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1" r:id="rId2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720" y="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568395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3155886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4414B5A-7787-49F8-9BD5-1EF6AD5E0209}" type="datetimeFigureOut">
              <a:rPr/>
              <a:t>29/05/2026</a:t>
            </a:fld>
            <a:endParaRPr/>
          </a:p>
        </p:txBody>
      </p:sp>
      <p:sp>
        <p:nvSpPr>
          <p:cNvPr id="1117149846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7659044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97068654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1064845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0D23A30-0885-4E90-BED5-234A89B4380C}" type="slidenum">
              <a:r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544108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5218695" name="Google Shape;82;p1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1E95E9-0376-F3B6-FFC1-6447C53894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59B66F-96B9-BADD-A4F6-2D63F1FE4E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D526A2-6B50-0BF9-2E89-F63A89AA4C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025C84-0B1C-74F3-3325-9DAC138FFA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7F0E1E-333B-77B8-56A8-83A70B040F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4F922A-7690-1851-BA01-A990AF8530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C9AC70-69E6-7603-038A-818E1C3F42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EEE904-5B3A-F0B9-DF2B-A9836AEC2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A9378-2F00-59AD-C425-BDA6D71D0B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590661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02625524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47241234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14536405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87720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40681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51153305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8947913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66428308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808896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493005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8300176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7661565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400361040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54111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58082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8306706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8631449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1965029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15951195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6102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381070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4155645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984885273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143284872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79071902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43781144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731453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247776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43192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06588527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703131788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31283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52467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515663331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63443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63345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4910906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97310338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86752876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34003418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81665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30419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65733351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85594211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2247134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84153847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4329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95962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39542631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3916247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2469569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20839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80775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16690251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4750818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35916693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8410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210231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60966804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141122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125066942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303582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565389167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501571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8677813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51563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138439180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710468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244688141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728508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553769995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726609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280713018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10738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318749613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30553" name="Shape 0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1821325387" name="Image 0" descr="preencoded.png">
            <a:hlinkClick r:id="rId2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705574" y="6459321"/>
            <a:ext cx="1429124" cy="341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321970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A88B9D3-5A81-4DA5-8F0F-549E27CE311D}" type="datetimeFigureOut">
              <a:rPr/>
              <a:t>29/05/2026</a:t>
            </a:fld>
            <a:endParaRPr/>
          </a:p>
        </p:txBody>
      </p:sp>
      <p:sp>
        <p:nvSpPr>
          <p:cNvPr id="1710048752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861311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7C6E26C-9560-4FA0-A31A-A664EEA6B25F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4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773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274435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49096336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3D3CBE6-3FDF-4590-BA1D-6A1819BDF493}" type="datetimeFigureOut">
              <a:rPr/>
              <a:t>29/05/2026</a:t>
            </a:fld>
            <a:endParaRPr/>
          </a:p>
        </p:txBody>
      </p:sp>
      <p:sp>
        <p:nvSpPr>
          <p:cNvPr id="1446590186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442724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C047873-3348-4769-B7F7-C747AD15A432}" type="slidenum">
              <a:r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4">
            <a:alphaModFix amt="8000"/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lvl1pPr algn="ctr" defTabSz="1219170" rtl="0">
        <a:spcBef>
          <a:spcPts val="0"/>
        </a:spcBef>
        <a:buNone/>
        <a:defRPr sz="58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>
        <a:spcBef>
          <a:spcPts val="0"/>
        </a:spcBef>
        <a:buFont typeface="Arial"/>
        <a:buChar char="•"/>
        <a:defRPr sz="425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>
        <a:spcBef>
          <a:spcPts val="0"/>
        </a:spcBef>
        <a:buFont typeface="Arial"/>
        <a:buChar char="–"/>
        <a:defRPr sz="375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>
        <a:spcBef>
          <a:spcPts val="0"/>
        </a:spcBef>
        <a:buFont typeface="Arial"/>
        <a:buChar char="–"/>
        <a:defRPr sz="265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>
        <a:spcBef>
          <a:spcPts val="0"/>
        </a:spcBef>
        <a:buFont typeface="Arial"/>
        <a:buChar char="»"/>
        <a:defRPr sz="265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>
        <a:spcBef>
          <a:spcPts val="0"/>
        </a:spcBef>
        <a:buFont typeface="Arial"/>
        <a:buChar char="•"/>
        <a:defRPr sz="265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>
        <a:spcBef>
          <a:spcPts val="0"/>
        </a:spcBef>
        <a:buFont typeface="Arial"/>
        <a:buChar char="•"/>
        <a:defRPr sz="265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>
        <a:spcBef>
          <a:spcPts val="0"/>
        </a:spcBef>
        <a:buFont typeface="Arial"/>
        <a:buChar char="•"/>
        <a:defRPr sz="265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>
        <a:spcBef>
          <a:spcPts val="0"/>
        </a:spcBef>
        <a:buFont typeface="Arial"/>
        <a:buChar char="•"/>
        <a:defRPr sz="26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>
        <a:defRPr sz="24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media1.sv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media2.sv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media3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media4.sv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media5.svg"/><Relationship Id="rId7" Type="http://schemas.openxmlformats.org/officeDocument/2006/relationships/image" Target="../media/image20.png"/><Relationship Id="rId8" Type="http://schemas.openxmlformats.org/officeDocument/2006/relationships/image" Target="../media/media6.sv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media7.svg"/><Relationship Id="rId12" Type="http://schemas.openxmlformats.org/officeDocument/2006/relationships/image" Target="../media/image2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391143" name="Google Shape;85;p13" descr="image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666751" y="6162676"/>
            <a:ext cx="108585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2865602" name="Google Shape;87;p13" descr="image.png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8415337" y="35038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35426" name="Google Shape;93;p13"/>
          <p:cNvSpPr/>
          <p:nvPr/>
        </p:nvSpPr>
        <p:spPr bwMode="auto">
          <a:xfrm>
            <a:off x="10225087" y="6338886"/>
            <a:ext cx="38100" cy="381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defRPr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0086243" name="Text 0"/>
          <p:cNvSpPr/>
          <p:nvPr/>
        </p:nvSpPr>
        <p:spPr bwMode="auto">
          <a:xfrm>
            <a:off x="3388446" y="921438"/>
            <a:ext cx="60902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3650">
                <a:solidFill>
                  <a:srgbClr val="3257B8"/>
                </a:solidFill>
                <a:latin typeface="Cooper Black"/>
                <a:ea typeface="Roboto Slab"/>
                <a:cs typeface="Roboto Slab"/>
              </a:rPr>
              <a:t>BAOBAB INTELLIGENCE</a:t>
            </a:r>
            <a:endParaRPr lang="en-US" sz="3650">
              <a:latin typeface="Cooper Black"/>
            </a:endParaRPr>
          </a:p>
        </p:txBody>
      </p:sp>
      <p:sp>
        <p:nvSpPr>
          <p:cNvPr id="580092335" name="Text 1"/>
          <p:cNvSpPr/>
          <p:nvPr/>
        </p:nvSpPr>
        <p:spPr bwMode="auto">
          <a:xfrm>
            <a:off x="2049938" y="2295765"/>
            <a:ext cx="8620916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  <a:defRPr/>
            </a:pPr>
            <a:r>
              <a:rPr lang="en-US" sz="5150">
                <a:solidFill>
                  <a:srgbClr val="3257B8"/>
                </a:solidFill>
                <a:latin typeface="Roboto Slab"/>
                <a:ea typeface="Roboto Slab"/>
                <a:cs typeface="Roboto Slab"/>
              </a:rPr>
              <a:t>Comment le monde parle du Bénin</a:t>
            </a:r>
            <a:r>
              <a:rPr lang="fr-FR" sz="5150"/>
              <a:t> ?</a:t>
            </a:r>
            <a:endParaRPr lang="en-US" sz="5150"/>
          </a:p>
        </p:txBody>
      </p:sp>
      <p:sp>
        <p:nvSpPr>
          <p:cNvPr id="1898310341" name="Text 2"/>
          <p:cNvSpPr/>
          <p:nvPr/>
        </p:nvSpPr>
        <p:spPr bwMode="auto">
          <a:xfrm>
            <a:off x="3619754" y="5734547"/>
            <a:ext cx="69066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  <a:defRPr/>
            </a:pPr>
            <a:r>
              <a:rPr lang="en-US" sz="1600" b="1" i="1">
                <a:ln w="0"/>
                <a:latin typeface="Gabriola"/>
                <a:ea typeface="Roboto"/>
                <a:cs typeface="Roboto"/>
              </a:rPr>
              <a:t>iSHEERO × DataCamp Donates · Hackathon 2026 · Groupe 16</a:t>
            </a:r>
            <a:endParaRPr lang="en-US" sz="1600" b="1" i="1">
              <a:ln w="0"/>
              <a:latin typeface="Gabriola"/>
            </a:endParaRPr>
          </a:p>
        </p:txBody>
      </p:sp>
      <p:sp>
        <p:nvSpPr>
          <p:cNvPr id="320690059" name="Shape 3"/>
          <p:cNvSpPr/>
          <p:nvPr/>
        </p:nvSpPr>
        <p:spPr bwMode="auto">
          <a:xfrm>
            <a:off x="4828610" y="4709807"/>
            <a:ext cx="3063577" cy="367903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1185373081" name="Text 4"/>
          <p:cNvSpPr/>
          <p:nvPr/>
        </p:nvSpPr>
        <p:spPr bwMode="auto">
          <a:xfrm>
            <a:off x="5033271" y="4772813"/>
            <a:ext cx="3433663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  <a:defRPr/>
            </a:pPr>
            <a:r>
              <a:rPr lang="en-US" sz="1150">
                <a:solidFill>
                  <a:srgbClr val="3257B8"/>
                </a:solidFill>
                <a:latin typeface="Roboto"/>
                <a:ea typeface="Roboto"/>
                <a:cs typeface="Roboto"/>
              </a:rPr>
              <a:t>BENIN INSIGHTS CHALLENGE — PHASE 2</a:t>
            </a:r>
            <a:endParaRPr lang="en-US" sz="1150"/>
          </a:p>
        </p:txBody>
      </p:sp>
      <p:sp>
        <p:nvSpPr>
          <p:cNvPr id="1218465494" name="Text 5"/>
          <p:cNvSpPr/>
          <p:nvPr/>
        </p:nvSpPr>
        <p:spPr bwMode="auto">
          <a:xfrm>
            <a:off x="5547392" y="6365039"/>
            <a:ext cx="62970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  <a:defRPr/>
            </a:pPr>
            <a:r>
              <a:rPr lang="en-US" sz="14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1 / 10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823093" name="Text 0"/>
          <p:cNvSpPr/>
          <p:nvPr/>
        </p:nvSpPr>
        <p:spPr bwMode="auto">
          <a:xfrm>
            <a:off x="3371255" y="685502"/>
            <a:ext cx="5449491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42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Plan de la Présentation</a:t>
            </a:r>
            <a:endParaRPr lang="en-US" sz="4250" b="1">
              <a:latin typeface="Garamond"/>
            </a:endParaRPr>
          </a:p>
        </p:txBody>
      </p:sp>
      <p:sp>
        <p:nvSpPr>
          <p:cNvPr id="2063644513" name="Shape 1"/>
          <p:cNvSpPr/>
          <p:nvPr/>
        </p:nvSpPr>
        <p:spPr bwMode="auto">
          <a:xfrm>
            <a:off x="661492" y="1819573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483918104" name="Text 2"/>
          <p:cNvSpPr/>
          <p:nvPr/>
        </p:nvSpPr>
        <p:spPr bwMode="auto">
          <a:xfrm>
            <a:off x="732383" y="1854994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1</a:t>
            </a:r>
            <a:endParaRPr lang="en-US" sz="2200"/>
          </a:p>
        </p:txBody>
      </p:sp>
      <p:sp>
        <p:nvSpPr>
          <p:cNvPr id="176800212" name="Text 3"/>
          <p:cNvSpPr/>
          <p:nvPr/>
        </p:nvSpPr>
        <p:spPr bwMode="auto">
          <a:xfrm>
            <a:off x="1275756" y="1854994"/>
            <a:ext cx="2851249" cy="14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Problématique</a:t>
            </a:r>
            <a:endParaRPr lang="en-US" sz="2200"/>
          </a:p>
        </p:txBody>
      </p:sp>
      <p:sp>
        <p:nvSpPr>
          <p:cNvPr id="1487717283" name="Shape 4"/>
          <p:cNvSpPr/>
          <p:nvPr/>
        </p:nvSpPr>
        <p:spPr bwMode="auto">
          <a:xfrm>
            <a:off x="4363245" y="1819573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84778822" name="Text 5"/>
          <p:cNvSpPr/>
          <p:nvPr/>
        </p:nvSpPr>
        <p:spPr bwMode="auto">
          <a:xfrm>
            <a:off x="4434137" y="1854994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2</a:t>
            </a:r>
            <a:endParaRPr lang="en-US" sz="2200"/>
          </a:p>
        </p:txBody>
      </p:sp>
      <p:sp>
        <p:nvSpPr>
          <p:cNvPr id="831721705" name="Text 6"/>
          <p:cNvSpPr/>
          <p:nvPr/>
        </p:nvSpPr>
        <p:spPr bwMode="auto">
          <a:xfrm>
            <a:off x="4977508" y="1854994"/>
            <a:ext cx="2851249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Notre Solution au 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probléme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</a:t>
            </a:r>
            <a:endParaRPr lang="en-US" sz="2200"/>
          </a:p>
        </p:txBody>
      </p:sp>
      <p:sp>
        <p:nvSpPr>
          <p:cNvPr id="524920354" name="Shape 7"/>
          <p:cNvSpPr/>
          <p:nvPr/>
        </p:nvSpPr>
        <p:spPr bwMode="auto">
          <a:xfrm>
            <a:off x="8064997" y="1819573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34095369" name="Text 8"/>
          <p:cNvSpPr/>
          <p:nvPr/>
        </p:nvSpPr>
        <p:spPr bwMode="auto">
          <a:xfrm>
            <a:off x="8135889" y="1854994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3</a:t>
            </a:r>
            <a:endParaRPr lang="en-US" sz="2200"/>
          </a:p>
        </p:txBody>
      </p:sp>
      <p:sp>
        <p:nvSpPr>
          <p:cNvPr id="487440639" name="Text 9"/>
          <p:cNvSpPr/>
          <p:nvPr/>
        </p:nvSpPr>
        <p:spPr bwMode="auto">
          <a:xfrm>
            <a:off x="8679261" y="1854994"/>
            <a:ext cx="2851249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Les 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Résultats</a:t>
            </a:r>
            <a:endParaRPr lang="en-US" sz="2200"/>
          </a:p>
        </p:txBody>
      </p:sp>
      <p:sp>
        <p:nvSpPr>
          <p:cNvPr id="1506536397" name="Shape 10"/>
          <p:cNvSpPr/>
          <p:nvPr/>
        </p:nvSpPr>
        <p:spPr bwMode="auto">
          <a:xfrm>
            <a:off x="661492" y="3650655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11637708" name="Text 11"/>
          <p:cNvSpPr/>
          <p:nvPr/>
        </p:nvSpPr>
        <p:spPr bwMode="auto">
          <a:xfrm>
            <a:off x="732383" y="3686077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4</a:t>
            </a:r>
            <a:endParaRPr lang="en-US" sz="2200"/>
          </a:p>
        </p:txBody>
      </p:sp>
      <p:sp>
        <p:nvSpPr>
          <p:cNvPr id="922552790" name="Text 12"/>
          <p:cNvSpPr/>
          <p:nvPr/>
        </p:nvSpPr>
        <p:spPr bwMode="auto">
          <a:xfrm>
            <a:off x="1275756" y="3686076"/>
            <a:ext cx="2851249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Notre IA</a:t>
            </a:r>
            <a:endParaRPr lang="en-US" sz="2200"/>
          </a:p>
        </p:txBody>
      </p:sp>
      <p:sp>
        <p:nvSpPr>
          <p:cNvPr id="645188950" name="Shape 13"/>
          <p:cNvSpPr/>
          <p:nvPr/>
        </p:nvSpPr>
        <p:spPr bwMode="auto">
          <a:xfrm>
            <a:off x="4363245" y="3650655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49181809" name="Text 14"/>
          <p:cNvSpPr/>
          <p:nvPr/>
        </p:nvSpPr>
        <p:spPr bwMode="auto">
          <a:xfrm>
            <a:off x="4434137" y="3686077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5</a:t>
            </a:r>
            <a:endParaRPr lang="en-US" sz="2200"/>
          </a:p>
        </p:txBody>
      </p:sp>
      <p:sp>
        <p:nvSpPr>
          <p:cNvPr id="1214458606" name="Text 15"/>
          <p:cNvSpPr/>
          <p:nvPr/>
        </p:nvSpPr>
        <p:spPr bwMode="auto">
          <a:xfrm>
            <a:off x="4977508" y="3686077"/>
            <a:ext cx="2851249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Backtesting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et validation</a:t>
            </a:r>
            <a:endParaRPr lang="en-US" sz="2200"/>
          </a:p>
        </p:txBody>
      </p:sp>
      <p:sp>
        <p:nvSpPr>
          <p:cNvPr id="105200649" name="Shape 16"/>
          <p:cNvSpPr/>
          <p:nvPr/>
        </p:nvSpPr>
        <p:spPr bwMode="auto">
          <a:xfrm>
            <a:off x="8064997" y="3650655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80976361" name="Text 17"/>
          <p:cNvSpPr/>
          <p:nvPr/>
        </p:nvSpPr>
        <p:spPr bwMode="auto">
          <a:xfrm>
            <a:off x="8135889" y="3686077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6</a:t>
            </a:r>
            <a:endParaRPr lang="en-US" sz="2200"/>
          </a:p>
        </p:txBody>
      </p:sp>
      <p:sp>
        <p:nvSpPr>
          <p:cNvPr id="14436093" name="Text 18"/>
          <p:cNvSpPr/>
          <p:nvPr/>
        </p:nvSpPr>
        <p:spPr bwMode="auto">
          <a:xfrm>
            <a:off x="8679261" y="3686076"/>
            <a:ext cx="2851249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Démo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(Dashboard 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en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ligne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)</a:t>
            </a:r>
            <a:endParaRPr lang="en-US" sz="2200"/>
          </a:p>
        </p:txBody>
      </p:sp>
      <p:sp>
        <p:nvSpPr>
          <p:cNvPr id="921258693" name="Shape 19"/>
          <p:cNvSpPr/>
          <p:nvPr/>
        </p:nvSpPr>
        <p:spPr bwMode="auto">
          <a:xfrm>
            <a:off x="661492" y="5127328"/>
            <a:ext cx="425252" cy="42525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19998715" name="Text 20"/>
          <p:cNvSpPr/>
          <p:nvPr/>
        </p:nvSpPr>
        <p:spPr bwMode="auto">
          <a:xfrm>
            <a:off x="732383" y="5162749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7</a:t>
            </a:r>
            <a:endParaRPr lang="en-US" sz="2200"/>
          </a:p>
        </p:txBody>
      </p:sp>
      <p:sp>
        <p:nvSpPr>
          <p:cNvPr id="955942813" name="Text 21"/>
          <p:cNvSpPr/>
          <p:nvPr/>
        </p:nvSpPr>
        <p:spPr bwMode="auto">
          <a:xfrm>
            <a:off x="1275755" y="5162749"/>
            <a:ext cx="6489899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Avantages</a:t>
            </a: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compétitifs</a:t>
            </a:r>
            <a:endParaRPr lang="en-US" sz="2200"/>
          </a:p>
        </p:txBody>
      </p:sp>
      <p:sp>
        <p:nvSpPr>
          <p:cNvPr id="936040750" name="Text 22"/>
          <p:cNvSpPr/>
          <p:nvPr/>
        </p:nvSpPr>
        <p:spPr bwMode="auto">
          <a:xfrm>
            <a:off x="51893" y="5765206"/>
            <a:ext cx="1086901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  <a:defRPr/>
            </a:pPr>
            <a:r>
              <a:rPr lang="en-US" sz="11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2 / 10</a:t>
            </a:r>
            <a:endParaRPr lang="en-US" sz="1150"/>
          </a:p>
        </p:txBody>
      </p:sp>
      <p:sp>
        <p:nvSpPr>
          <p:cNvPr id="942432288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accent1">
                    <a:lumMod val="50000"/>
                  </a:schemeClr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accent1">
                    <a:lumMod val="50000"/>
                  </a:schemeClr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accent1">
                  <a:lumMod val="50000"/>
                </a:schemeClr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243385" name="Text 0"/>
          <p:cNvSpPr/>
          <p:nvPr/>
        </p:nvSpPr>
        <p:spPr bwMode="auto">
          <a:xfrm>
            <a:off x="5233493" y="526752"/>
            <a:ext cx="5098852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37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Le Problème</a:t>
            </a:r>
            <a:endParaRPr lang="en-US" sz="3750" b="1">
              <a:latin typeface="Garamond"/>
            </a:endParaRPr>
          </a:p>
        </p:txBody>
      </p:sp>
      <p:sp>
        <p:nvSpPr>
          <p:cNvPr id="1395575042" name="Text 1"/>
          <p:cNvSpPr/>
          <p:nvPr/>
        </p:nvSpPr>
        <p:spPr bwMode="auto">
          <a:xfrm>
            <a:off x="5233493" y="1343818"/>
            <a:ext cx="629701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Des centaines d'articles mentionnent le Bénin chaque jour ( </a:t>
            </a: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médias</a:t>
            </a: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nigérians, français, chinois, </a:t>
            </a: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arabes</a:t>
            </a: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) dans des dizaines de langues. </a:t>
            </a:r>
            <a:r>
              <a:rPr lang="en-US" sz="140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Personne ne les lit tous. Personne ne les compare.</a:t>
            </a:r>
            <a:endParaRPr lang="en-US" sz="1400"/>
          </a:p>
        </p:txBody>
      </p:sp>
      <p:sp>
        <p:nvSpPr>
          <p:cNvPr id="1164370690" name="Shape 2"/>
          <p:cNvSpPr/>
          <p:nvPr/>
        </p:nvSpPr>
        <p:spPr bwMode="auto">
          <a:xfrm>
            <a:off x="5233493" y="2375993"/>
            <a:ext cx="3063180" cy="1588393"/>
          </a:xfrm>
          <a:prstGeom prst="roundRect">
            <a:avLst>
              <a:gd name="adj" fmla="val 24036"/>
            </a:avLst>
          </a:prstGeom>
          <a:solidFill>
            <a:srgbClr val="E9ECF2"/>
          </a:solidFill>
          <a:ln/>
        </p:spPr>
      </p:sp>
      <p:sp>
        <p:nvSpPr>
          <p:cNvPr id="44413681" name="Text 3"/>
          <p:cNvSpPr/>
          <p:nvPr/>
        </p:nvSpPr>
        <p:spPr bwMode="auto">
          <a:xfrm>
            <a:off x="5412980" y="2555480"/>
            <a:ext cx="2244625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750">
                <a:solidFill>
                  <a:srgbClr val="000000"/>
                </a:solidFill>
                <a:latin typeface="Roboto Slab"/>
                <a:ea typeface="Roboto Slab"/>
                <a:cs typeface="Roboto Slab"/>
              </a:rPr>
              <a:t>🪪</a:t>
            </a:r>
            <a:r>
              <a:rPr lang="en-US" sz="17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Le diplomate</a:t>
            </a:r>
            <a:endParaRPr lang="en-US" sz="1750"/>
          </a:p>
        </p:txBody>
      </p:sp>
      <p:sp>
        <p:nvSpPr>
          <p:cNvPr id="261647077" name="Text 4"/>
          <p:cNvSpPr/>
          <p:nvPr/>
        </p:nvSpPr>
        <p:spPr bwMode="auto">
          <a:xfrm>
            <a:off x="5412979" y="2944615"/>
            <a:ext cx="270420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Ignore que 60 % de la couverture de son pays est négative.</a:t>
            </a:r>
            <a:endParaRPr lang="en-US" sz="1400"/>
          </a:p>
        </p:txBody>
      </p:sp>
      <p:sp>
        <p:nvSpPr>
          <p:cNvPr id="976274876" name="Shape 5"/>
          <p:cNvSpPr/>
          <p:nvPr/>
        </p:nvSpPr>
        <p:spPr bwMode="auto">
          <a:xfrm>
            <a:off x="8467229" y="2375993"/>
            <a:ext cx="3063279" cy="1588393"/>
          </a:xfrm>
          <a:prstGeom prst="roundRect">
            <a:avLst>
              <a:gd name="adj" fmla="val 21744"/>
            </a:avLst>
          </a:prstGeom>
          <a:solidFill>
            <a:srgbClr val="E9ECF2"/>
          </a:solidFill>
          <a:ln/>
        </p:spPr>
      </p:sp>
      <p:sp>
        <p:nvSpPr>
          <p:cNvPr id="2145566008" name="Text 6"/>
          <p:cNvSpPr/>
          <p:nvPr/>
        </p:nvSpPr>
        <p:spPr bwMode="auto">
          <a:xfrm>
            <a:off x="8646717" y="2555480"/>
            <a:ext cx="2244625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750">
                <a:solidFill>
                  <a:srgbClr val="000000"/>
                </a:solidFill>
                <a:latin typeface="Roboto Slab"/>
                <a:ea typeface="Roboto Slab"/>
                <a:cs typeface="Roboto Slab"/>
              </a:rPr>
              <a:t>📢</a:t>
            </a:r>
            <a:r>
              <a:rPr lang="en-US" sz="17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Le communicant</a:t>
            </a:r>
            <a:endParaRPr lang="en-US" sz="1750"/>
          </a:p>
        </p:txBody>
      </p:sp>
      <p:sp>
        <p:nvSpPr>
          <p:cNvPr id="999311650" name="Text 7"/>
          <p:cNvSpPr/>
          <p:nvPr/>
        </p:nvSpPr>
        <p:spPr bwMode="auto">
          <a:xfrm>
            <a:off x="8646716" y="2944615"/>
            <a:ext cx="270430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Ne sait pas que dailypost.ng et punchng.com concentrent 13 % de sa couverture.</a:t>
            </a:r>
            <a:endParaRPr lang="en-US" sz="1400"/>
          </a:p>
        </p:txBody>
      </p:sp>
      <p:sp>
        <p:nvSpPr>
          <p:cNvPr id="803999056" name="Shape 8"/>
          <p:cNvSpPr/>
          <p:nvPr/>
        </p:nvSpPr>
        <p:spPr bwMode="auto">
          <a:xfrm>
            <a:off x="5233493" y="4134941"/>
            <a:ext cx="6297017" cy="1308299"/>
          </a:xfrm>
          <a:prstGeom prst="roundRect">
            <a:avLst>
              <a:gd name="adj" fmla="val 30572"/>
            </a:avLst>
          </a:prstGeom>
          <a:solidFill>
            <a:srgbClr val="E9ECF2"/>
          </a:solidFill>
          <a:ln/>
        </p:spPr>
      </p:sp>
      <p:sp>
        <p:nvSpPr>
          <p:cNvPr id="1755480159" name="Text 9"/>
          <p:cNvSpPr/>
          <p:nvPr/>
        </p:nvSpPr>
        <p:spPr bwMode="auto">
          <a:xfrm>
            <a:off x="5412980" y="4314429"/>
            <a:ext cx="2244625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750">
                <a:solidFill>
                  <a:srgbClr val="000000"/>
                </a:solidFill>
                <a:latin typeface="Roboto Slab"/>
                <a:ea typeface="Roboto Slab"/>
                <a:cs typeface="Roboto Slab"/>
              </a:rPr>
              <a:t>📰</a:t>
            </a:r>
            <a:r>
              <a:rPr lang="en-US" sz="17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 Le journaliste</a:t>
            </a:r>
            <a:endParaRPr lang="en-US" sz="1750"/>
          </a:p>
        </p:txBody>
      </p:sp>
      <p:sp>
        <p:nvSpPr>
          <p:cNvPr id="637803953" name="Text 10"/>
          <p:cNvSpPr/>
          <p:nvPr/>
        </p:nvSpPr>
        <p:spPr bwMode="auto">
          <a:xfrm>
            <a:off x="5412979" y="4703564"/>
            <a:ext cx="593804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Ignore que la presse anglophone couvre le Bénin </a:t>
            </a:r>
            <a:r>
              <a:rPr lang="en-US" sz="140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2× plus négativement</a:t>
            </a: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que la francophone.</a:t>
            </a:r>
            <a:endParaRPr lang="en-US" sz="1400"/>
          </a:p>
        </p:txBody>
      </p:sp>
      <p:sp>
        <p:nvSpPr>
          <p:cNvPr id="1827035142" name="Text 11"/>
          <p:cNvSpPr/>
          <p:nvPr/>
        </p:nvSpPr>
        <p:spPr bwMode="auto">
          <a:xfrm>
            <a:off x="5233493" y="5635130"/>
            <a:ext cx="690661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  <a:defRPr/>
            </a:pPr>
            <a:r>
              <a:rPr lang="en-US" sz="1400" i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Chacun a une vision partielle et potentiellement déformée.</a:t>
            </a:r>
            <a:endParaRPr lang="en-US" sz="1400"/>
          </a:p>
        </p:txBody>
      </p:sp>
      <p:sp>
        <p:nvSpPr>
          <p:cNvPr id="154754043" name="Text 12"/>
          <p:cNvSpPr/>
          <p:nvPr/>
        </p:nvSpPr>
        <p:spPr bwMode="auto">
          <a:xfrm>
            <a:off x="4623893" y="6107113"/>
            <a:ext cx="6297017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0000"/>
              </a:lnSpc>
              <a:defRPr/>
            </a:pPr>
            <a:r>
              <a:rPr lang="en-US" sz="10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3 / 10</a:t>
            </a:r>
            <a:endParaRPr lang="en-US" sz="1050"/>
          </a:p>
        </p:txBody>
      </p:sp>
      <p:pic>
        <p:nvPicPr>
          <p:cNvPr id="1183538243" name="Picture 2" descr="Les médias vont bientôt jouir du financement de l’État - Bénin Révélé Mag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2" y="0"/>
            <a:ext cx="5054005" cy="6858000"/>
          </a:xfrm>
          <a:prstGeom prst="rect">
            <a:avLst/>
          </a:prstGeom>
          <a:noFill/>
        </p:spPr>
      </p:pic>
      <p:sp>
        <p:nvSpPr>
          <p:cNvPr id="2043706645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26523" name="Text 0"/>
          <p:cNvSpPr/>
          <p:nvPr/>
        </p:nvSpPr>
        <p:spPr bwMode="auto">
          <a:xfrm>
            <a:off x="661492" y="1083668"/>
            <a:ext cx="533509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36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Notre Solution</a:t>
            </a:r>
            <a:endParaRPr lang="en-US" sz="3650" b="1">
              <a:latin typeface="Garamond"/>
            </a:endParaRPr>
          </a:p>
        </p:txBody>
      </p:sp>
      <p:sp>
        <p:nvSpPr>
          <p:cNvPr id="2113803851" name="Text 1"/>
          <p:cNvSpPr/>
          <p:nvPr/>
        </p:nvSpPr>
        <p:spPr bwMode="auto">
          <a:xfrm>
            <a:off x="661492" y="2052340"/>
            <a:ext cx="10869017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Un système de veille médiatique intelligent qui répond à 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3 questions 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fondamentales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alimenté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par 23 461 événements GDELT, 1 323 médias et 5 communautés linguistiques.</a:t>
            </a:r>
            <a:endParaRPr lang="en-US" sz="1450"/>
          </a:p>
        </p:txBody>
      </p:sp>
      <p:sp>
        <p:nvSpPr>
          <p:cNvPr id="1821053374" name="Shape 2"/>
          <p:cNvSpPr/>
          <p:nvPr/>
        </p:nvSpPr>
        <p:spPr bwMode="auto">
          <a:xfrm>
            <a:off x="661492" y="2869803"/>
            <a:ext cx="3496965" cy="2450008"/>
          </a:xfrm>
          <a:prstGeom prst="roundRect">
            <a:avLst>
              <a:gd name="adj" fmla="val 17126"/>
            </a:avLst>
          </a:prstGeom>
          <a:solidFill>
            <a:srgbClr val="E9ECF2"/>
          </a:solidFill>
          <a:ln/>
        </p:spPr>
      </p:sp>
      <p:pic>
        <p:nvPicPr>
          <p:cNvPr id="110612166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0503" y="3058815"/>
            <a:ext cx="567035" cy="567035"/>
          </a:xfrm>
          <a:prstGeom prst="rect">
            <a:avLst/>
          </a:prstGeom>
        </p:spPr>
      </p:pic>
      <p:pic>
        <p:nvPicPr>
          <p:cNvPr id="814833977" name="Image 1" descr="preencoded.p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006474" y="3214689"/>
            <a:ext cx="255091" cy="255091"/>
          </a:xfrm>
          <a:prstGeom prst="rect">
            <a:avLst/>
          </a:prstGeom>
        </p:spPr>
      </p:pic>
      <p:sp>
        <p:nvSpPr>
          <p:cNvPr id="1964061101" name="Text 3"/>
          <p:cNvSpPr/>
          <p:nvPr/>
        </p:nvSpPr>
        <p:spPr bwMode="auto">
          <a:xfrm>
            <a:off x="850503" y="3814861"/>
            <a:ext cx="2362696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QUI parle du Bénin ?</a:t>
            </a:r>
            <a:endParaRPr lang="en-US"/>
          </a:p>
        </p:txBody>
      </p:sp>
      <p:sp>
        <p:nvSpPr>
          <p:cNvPr id="1596786745" name="Text 4"/>
          <p:cNvSpPr/>
          <p:nvPr/>
        </p:nvSpPr>
        <p:spPr bwMode="auto">
          <a:xfrm>
            <a:off x="850503" y="4223544"/>
            <a:ext cx="31189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1 323 médias identifiés ·</a:t>
            </a:r>
            <a:endParaRPr lang="en-US" sz="1450">
              <a:solidFill>
                <a:srgbClr val="15213F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5 communautés linguistiques </a:t>
            </a:r>
            <a:endParaRPr lang="en-US" sz="1450">
              <a:solidFill>
                <a:srgbClr val="15213F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·Ton médiatique par source</a:t>
            </a:r>
            <a:endParaRPr lang="en-US" sz="1450"/>
          </a:p>
        </p:txBody>
      </p:sp>
      <p:sp>
        <p:nvSpPr>
          <p:cNvPr id="183190013" name="Shape 5"/>
          <p:cNvSpPr/>
          <p:nvPr/>
        </p:nvSpPr>
        <p:spPr bwMode="auto">
          <a:xfrm>
            <a:off x="4347468" y="2869803"/>
            <a:ext cx="3496965" cy="2450008"/>
          </a:xfrm>
          <a:prstGeom prst="roundRect">
            <a:avLst>
              <a:gd name="adj" fmla="val 18611"/>
            </a:avLst>
          </a:prstGeom>
          <a:solidFill>
            <a:srgbClr val="E9ECF2"/>
          </a:solidFill>
          <a:ln/>
        </p:spPr>
      </p:sp>
      <p:pic>
        <p:nvPicPr>
          <p:cNvPr id="1671208774" name="Image 2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536480" y="3058815"/>
            <a:ext cx="567035" cy="567035"/>
          </a:xfrm>
          <a:prstGeom prst="rect">
            <a:avLst/>
          </a:prstGeom>
        </p:spPr>
      </p:pic>
      <p:pic>
        <p:nvPicPr>
          <p:cNvPr id="1549752983" name="Image 3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4692452" y="3214689"/>
            <a:ext cx="255091" cy="255091"/>
          </a:xfrm>
          <a:prstGeom prst="rect">
            <a:avLst/>
          </a:prstGeom>
        </p:spPr>
      </p:pic>
      <p:sp>
        <p:nvSpPr>
          <p:cNvPr id="1790105158" name="Text 6"/>
          <p:cNvSpPr/>
          <p:nvPr/>
        </p:nvSpPr>
        <p:spPr bwMode="auto">
          <a:xfrm>
            <a:off x="4536480" y="3814861"/>
            <a:ext cx="2362696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QUAND ça dérape ?</a:t>
            </a:r>
            <a:endParaRPr lang="en-US"/>
          </a:p>
        </p:txBody>
      </p:sp>
      <p:sp>
        <p:nvSpPr>
          <p:cNvPr id="1110060790" name="Text 7"/>
          <p:cNvSpPr/>
          <p:nvPr/>
        </p:nvSpPr>
        <p:spPr bwMode="auto">
          <a:xfrm>
            <a:off x="4536480" y="4223544"/>
            <a:ext cx="31189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Détection automatique des mois anormaux · IRP mensuel : 1 score, 1 couleur</a:t>
            </a:r>
            <a:endParaRPr lang="en-US" sz="1450"/>
          </a:p>
        </p:txBody>
      </p:sp>
      <p:sp>
        <p:nvSpPr>
          <p:cNvPr id="1878544439" name="Shape 8"/>
          <p:cNvSpPr/>
          <p:nvPr/>
        </p:nvSpPr>
        <p:spPr bwMode="auto">
          <a:xfrm>
            <a:off x="8033444" y="2869803"/>
            <a:ext cx="3496965" cy="2450008"/>
          </a:xfrm>
          <a:prstGeom prst="roundRect">
            <a:avLst>
              <a:gd name="adj" fmla="val 16012"/>
            </a:avLst>
          </a:prstGeom>
          <a:solidFill>
            <a:srgbClr val="E9ECF2"/>
          </a:solidFill>
          <a:ln/>
        </p:spPr>
      </p:sp>
      <p:pic>
        <p:nvPicPr>
          <p:cNvPr id="1712156717" name="Image 4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222456" y="3058815"/>
            <a:ext cx="567035" cy="567035"/>
          </a:xfrm>
          <a:prstGeom prst="rect">
            <a:avLst/>
          </a:prstGeom>
        </p:spPr>
      </p:pic>
      <p:pic>
        <p:nvPicPr>
          <p:cNvPr id="147565242" name="Image 5" descr="preencoded.png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>
            <a:off x="8378429" y="3214689"/>
            <a:ext cx="255091" cy="255091"/>
          </a:xfrm>
          <a:prstGeom prst="rect">
            <a:avLst/>
          </a:prstGeom>
        </p:spPr>
      </p:pic>
      <p:sp>
        <p:nvSpPr>
          <p:cNvPr id="154902122" name="Text 9"/>
          <p:cNvSpPr/>
          <p:nvPr/>
        </p:nvSpPr>
        <p:spPr bwMode="auto">
          <a:xfrm>
            <a:off x="8222456" y="3814861"/>
            <a:ext cx="2362696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OÙ ça diffère ?</a:t>
            </a:r>
            <a:endParaRPr lang="en-US"/>
          </a:p>
        </p:txBody>
      </p:sp>
      <p:sp>
        <p:nvSpPr>
          <p:cNvPr id="1103218307" name="Text 10"/>
          <p:cNvSpPr/>
          <p:nvPr/>
        </p:nvSpPr>
        <p:spPr bwMode="auto">
          <a:xfrm>
            <a:off x="8222456" y="4223544"/>
            <a:ext cx="31189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Fracture nord/sud : 40 % de violence au nord vs 12 % au sud · 8 zones ALERTE</a:t>
            </a:r>
            <a:endParaRPr lang="en-US" sz="1450"/>
          </a:p>
        </p:txBody>
      </p:sp>
      <p:sp>
        <p:nvSpPr>
          <p:cNvPr id="1468746327" name="Text 11"/>
          <p:cNvSpPr/>
          <p:nvPr/>
        </p:nvSpPr>
        <p:spPr bwMode="auto">
          <a:xfrm>
            <a:off x="608074" y="5868103"/>
            <a:ext cx="1086901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  <a:defRPr/>
            </a:pPr>
            <a:r>
              <a:rPr lang="en-US" sz="11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4 / 10</a:t>
            </a:r>
            <a:endParaRPr lang="en-US" sz="1150"/>
          </a:p>
        </p:txBody>
      </p:sp>
      <p:sp>
        <p:nvSpPr>
          <p:cNvPr id="1233532453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460584" name="Text 0"/>
          <p:cNvSpPr/>
          <p:nvPr/>
        </p:nvSpPr>
        <p:spPr bwMode="auto">
          <a:xfrm>
            <a:off x="651173" y="569813"/>
            <a:ext cx="5571828" cy="52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32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Nos Résultats en Chiffres</a:t>
            </a:r>
            <a:endParaRPr lang="en-US" sz="3250" b="1">
              <a:latin typeface="Garamond"/>
            </a:endParaRPr>
          </a:p>
        </p:txBody>
      </p:sp>
      <p:sp>
        <p:nvSpPr>
          <p:cNvPr id="1192639716" name="Text 1"/>
          <p:cNvSpPr/>
          <p:nvPr/>
        </p:nvSpPr>
        <p:spPr bwMode="auto">
          <a:xfrm>
            <a:off x="918766" y="1473497"/>
            <a:ext cx="4816772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  <a:defRPr/>
            </a:pPr>
            <a:r>
              <a:rPr lang="en-US" sz="4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23 461</a:t>
            </a:r>
            <a:endParaRPr lang="en-US" sz="4350"/>
          </a:p>
        </p:txBody>
      </p:sp>
      <p:sp>
        <p:nvSpPr>
          <p:cNvPr id="102935327" name="Text 2"/>
          <p:cNvSpPr/>
          <p:nvPr/>
        </p:nvSpPr>
        <p:spPr bwMode="auto">
          <a:xfrm>
            <a:off x="2254350" y="2221012"/>
            <a:ext cx="2145605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Événements analysés</a:t>
            </a:r>
            <a:endParaRPr lang="en-US" sz="1600"/>
          </a:p>
        </p:txBody>
      </p:sp>
      <p:sp>
        <p:nvSpPr>
          <p:cNvPr id="1433876951" name="Text 3"/>
          <p:cNvSpPr/>
          <p:nvPr/>
        </p:nvSpPr>
        <p:spPr bwMode="auto">
          <a:xfrm>
            <a:off x="651173" y="2571651"/>
            <a:ext cx="535205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  <a:defRPr/>
            </a:pP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Janvier – Décembre 2025</a:t>
            </a:r>
            <a:endParaRPr lang="en-US" sz="1250"/>
          </a:p>
        </p:txBody>
      </p:sp>
      <p:sp>
        <p:nvSpPr>
          <p:cNvPr id="305622226" name="Text 4"/>
          <p:cNvSpPr/>
          <p:nvPr/>
        </p:nvSpPr>
        <p:spPr bwMode="auto">
          <a:xfrm>
            <a:off x="6456263" y="1473497"/>
            <a:ext cx="4816872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  <a:defRPr/>
            </a:pPr>
            <a:r>
              <a:rPr lang="en-US" sz="4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60.5%</a:t>
            </a:r>
            <a:endParaRPr lang="en-US" sz="4350"/>
          </a:p>
        </p:txBody>
      </p:sp>
      <p:sp>
        <p:nvSpPr>
          <p:cNvPr id="1985953359" name="Text 5"/>
          <p:cNvSpPr/>
          <p:nvPr/>
        </p:nvSpPr>
        <p:spPr bwMode="auto">
          <a:xfrm>
            <a:off x="7818141" y="2221012"/>
            <a:ext cx="209321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Couverture négative</a:t>
            </a:r>
            <a:endParaRPr lang="en-US" sz="1600"/>
          </a:p>
        </p:txBody>
      </p:sp>
      <p:sp>
        <p:nvSpPr>
          <p:cNvPr id="994009884" name="Text 6"/>
          <p:cNvSpPr/>
          <p:nvPr/>
        </p:nvSpPr>
        <p:spPr bwMode="auto">
          <a:xfrm>
            <a:off x="6188671" y="2571651"/>
            <a:ext cx="535215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  <a:defRPr/>
            </a:pP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Ton médiatique moyen : −1.50</a:t>
            </a:r>
            <a:endParaRPr lang="en-US" sz="1250"/>
          </a:p>
        </p:txBody>
      </p:sp>
      <p:sp>
        <p:nvSpPr>
          <p:cNvPr id="459423095" name="Text 7"/>
          <p:cNvSpPr/>
          <p:nvPr/>
        </p:nvSpPr>
        <p:spPr bwMode="auto">
          <a:xfrm>
            <a:off x="918766" y="3204567"/>
            <a:ext cx="4816772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  <a:defRPr/>
            </a:pPr>
            <a:r>
              <a:rPr lang="en-US" sz="4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1 323</a:t>
            </a:r>
            <a:endParaRPr lang="en-US" sz="4350"/>
          </a:p>
        </p:txBody>
      </p:sp>
      <p:sp>
        <p:nvSpPr>
          <p:cNvPr id="1815855214" name="Text 8"/>
          <p:cNvSpPr/>
          <p:nvPr/>
        </p:nvSpPr>
        <p:spPr bwMode="auto">
          <a:xfrm>
            <a:off x="2280544" y="3952081"/>
            <a:ext cx="209321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Médias distincts</a:t>
            </a:r>
            <a:endParaRPr lang="en-US" sz="1600"/>
          </a:p>
        </p:txBody>
      </p:sp>
      <p:sp>
        <p:nvSpPr>
          <p:cNvPr id="747538905" name="Text 9"/>
          <p:cNvSpPr/>
          <p:nvPr/>
        </p:nvSpPr>
        <p:spPr bwMode="auto">
          <a:xfrm>
            <a:off x="651173" y="4302720"/>
            <a:ext cx="535205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  <a:defRPr/>
            </a:pP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5 communautés linguistiques</a:t>
            </a:r>
            <a:endParaRPr lang="en-US" sz="1250"/>
          </a:p>
        </p:txBody>
      </p:sp>
      <p:sp>
        <p:nvSpPr>
          <p:cNvPr id="1647587438" name="Text 10"/>
          <p:cNvSpPr/>
          <p:nvPr/>
        </p:nvSpPr>
        <p:spPr bwMode="auto">
          <a:xfrm>
            <a:off x="6456263" y="3204567"/>
            <a:ext cx="4816872" cy="552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  <a:defRPr/>
            </a:pPr>
            <a:r>
              <a:rPr lang="en-US" sz="4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17.1%</a:t>
            </a:r>
            <a:endParaRPr lang="en-US" sz="4350"/>
          </a:p>
        </p:txBody>
      </p:sp>
      <p:sp>
        <p:nvSpPr>
          <p:cNvPr id="1867339631" name="Text 11"/>
          <p:cNvSpPr/>
          <p:nvPr/>
        </p:nvSpPr>
        <p:spPr bwMode="auto">
          <a:xfrm>
            <a:off x="7818141" y="3952081"/>
            <a:ext cx="209321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Événements violents</a:t>
            </a:r>
            <a:endParaRPr lang="en-US" sz="1600"/>
          </a:p>
        </p:txBody>
      </p:sp>
      <p:sp>
        <p:nvSpPr>
          <p:cNvPr id="534681690" name="Text 12"/>
          <p:cNvSpPr/>
          <p:nvPr/>
        </p:nvSpPr>
        <p:spPr bwMode="auto">
          <a:xfrm>
            <a:off x="6188671" y="4302720"/>
            <a:ext cx="5352157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6000"/>
              </a:lnSpc>
              <a:defRPr/>
            </a:pP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Fracture nord/sud marquée</a:t>
            </a:r>
            <a:endParaRPr lang="en-US" sz="1250"/>
          </a:p>
        </p:txBody>
      </p:sp>
      <p:sp>
        <p:nvSpPr>
          <p:cNvPr id="589440352" name="Shape 13"/>
          <p:cNvSpPr/>
          <p:nvPr/>
        </p:nvSpPr>
        <p:spPr bwMode="auto">
          <a:xfrm>
            <a:off x="530523" y="4722218"/>
            <a:ext cx="5481836" cy="1196975"/>
          </a:xfrm>
          <a:prstGeom prst="roundRect">
            <a:avLst>
              <a:gd name="adj" fmla="val 17302"/>
            </a:avLst>
          </a:prstGeom>
          <a:solidFill>
            <a:srgbClr val="3257B8"/>
          </a:solidFill>
          <a:ln/>
        </p:spPr>
      </p:sp>
      <p:sp>
        <p:nvSpPr>
          <p:cNvPr id="1515591001" name="Text 14"/>
          <p:cNvSpPr/>
          <p:nvPr/>
        </p:nvSpPr>
        <p:spPr bwMode="auto">
          <a:xfrm>
            <a:off x="697906" y="4870549"/>
            <a:ext cx="270281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Biais linguistique</a:t>
            </a:r>
            <a:endParaRPr lang="en-US" sz="1600"/>
          </a:p>
        </p:txBody>
      </p:sp>
      <p:sp>
        <p:nvSpPr>
          <p:cNvPr id="700633793" name="Text 15"/>
          <p:cNvSpPr/>
          <p:nvPr/>
        </p:nvSpPr>
        <p:spPr bwMode="auto">
          <a:xfrm>
            <a:off x="697905" y="5280522"/>
            <a:ext cx="5147072" cy="505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  <a:defRPr/>
            </a:pPr>
            <a:r>
              <a:rPr lang="en-US" sz="12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presse anglophone (49 % des sources) couvre le Bénin </a:t>
            </a:r>
            <a:r>
              <a:rPr lang="en-US" sz="12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2× plus négativement</a:t>
            </a:r>
            <a:r>
              <a:rPr lang="en-US" sz="12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que la francophone.</a:t>
            </a:r>
            <a:endParaRPr lang="en-US" sz="1250"/>
          </a:p>
        </p:txBody>
      </p:sp>
      <p:sp>
        <p:nvSpPr>
          <p:cNvPr id="64637989" name="Text 16"/>
          <p:cNvSpPr/>
          <p:nvPr/>
        </p:nvSpPr>
        <p:spPr bwMode="auto">
          <a:xfrm>
            <a:off x="6306642" y="4870549"/>
            <a:ext cx="324137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600">
                <a:solidFill>
                  <a:srgbClr val="3257B8"/>
                </a:solidFill>
                <a:latin typeface="Roboto Slab"/>
                <a:ea typeface="Roboto Slab"/>
                <a:cs typeface="Roboto Slab"/>
              </a:rPr>
              <a:t>Coopération sino-africaine</a:t>
            </a:r>
            <a:endParaRPr lang="en-US" sz="1600"/>
          </a:p>
        </p:txBody>
      </p:sp>
      <p:sp>
        <p:nvSpPr>
          <p:cNvPr id="56925406" name="Text 17"/>
          <p:cNvSpPr/>
          <p:nvPr/>
        </p:nvSpPr>
        <p:spPr bwMode="auto">
          <a:xfrm>
            <a:off x="6306641" y="5280522"/>
            <a:ext cx="5240536" cy="505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6000"/>
              </a:lnSpc>
              <a:defRPr/>
            </a:pP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La presse chinoise affiche un ton </a:t>
            </a:r>
            <a:r>
              <a:rPr lang="en-US" sz="12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positif (+0.45)</a:t>
            </a:r>
            <a:r>
              <a:rPr lang="en-US" sz="12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, centré sur les partenariats économiques et diplomatiques.</a:t>
            </a:r>
            <a:endParaRPr lang="en-US" sz="1250"/>
          </a:p>
        </p:txBody>
      </p:sp>
      <p:sp>
        <p:nvSpPr>
          <p:cNvPr id="1758133323" name="Text 18"/>
          <p:cNvSpPr/>
          <p:nvPr/>
        </p:nvSpPr>
        <p:spPr bwMode="auto">
          <a:xfrm>
            <a:off x="41573" y="6086080"/>
            <a:ext cx="10889655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6000"/>
              </a:lnSpc>
              <a:defRPr/>
            </a:pPr>
            <a:r>
              <a:rPr lang="en-US" sz="100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5 / 10</a:t>
            </a:r>
            <a:endParaRPr lang="en-US" sz="1000"/>
          </a:p>
        </p:txBody>
      </p:sp>
      <p:sp>
        <p:nvSpPr>
          <p:cNvPr id="328671439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140066" name="Text 0"/>
          <p:cNvSpPr/>
          <p:nvPr/>
        </p:nvSpPr>
        <p:spPr bwMode="auto">
          <a:xfrm>
            <a:off x="661492" y="1152725"/>
            <a:ext cx="7085012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36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Nos </a:t>
            </a:r>
            <a:r>
              <a:rPr lang="en-US" sz="36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modéles</a:t>
            </a:r>
            <a:endParaRPr lang="en-US" sz="3650" b="1">
              <a:latin typeface="Garamond"/>
            </a:endParaRPr>
          </a:p>
        </p:txBody>
      </p:sp>
      <p:sp>
        <p:nvSpPr>
          <p:cNvPr id="1620108580" name="Text 1"/>
          <p:cNvSpPr/>
          <p:nvPr/>
        </p:nvSpPr>
        <p:spPr bwMode="auto">
          <a:xfrm>
            <a:off x="661492" y="2121396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Deux modèles combinés en un seul score actionnable : l'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Indice de Risque Pays (IRP)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.</a:t>
            </a:r>
            <a:endParaRPr lang="en-US" sz="1450"/>
          </a:p>
        </p:txBody>
      </p:sp>
      <p:pic>
        <p:nvPicPr>
          <p:cNvPr id="73968157" name="Image 0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61492" y="2636440"/>
            <a:ext cx="3496965" cy="2614216"/>
          </a:xfrm>
          <a:prstGeom prst="rect">
            <a:avLst/>
          </a:prstGeom>
        </p:spPr>
      </p:pic>
      <p:sp>
        <p:nvSpPr>
          <p:cNvPr id="1696174717" name="Text 2"/>
          <p:cNvSpPr/>
          <p:nvPr/>
        </p:nvSpPr>
        <p:spPr bwMode="auto">
          <a:xfrm>
            <a:off x="875903" y="3417888"/>
            <a:ext cx="2767311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Random Forest + SMOTE</a:t>
            </a:r>
            <a:endParaRPr lang="en-US"/>
          </a:p>
        </p:txBody>
      </p:sp>
      <p:sp>
        <p:nvSpPr>
          <p:cNvPr id="1168951640" name="Text 3"/>
          <p:cNvSpPr/>
          <p:nvPr/>
        </p:nvSpPr>
        <p:spPr bwMode="auto">
          <a:xfrm>
            <a:off x="875903" y="3826569"/>
            <a:ext cx="30681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Prédit si un événement sera violent. AUC-ROC : 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0.780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· Recall : 52 %. Top feature : ton médiatique (0.328).</a:t>
            </a:r>
            <a:endParaRPr lang="en-US" sz="1450"/>
          </a:p>
        </p:txBody>
      </p:sp>
      <p:pic>
        <p:nvPicPr>
          <p:cNvPr id="2146161391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47468" y="2636440"/>
            <a:ext cx="3496965" cy="2614216"/>
          </a:xfrm>
          <a:prstGeom prst="rect">
            <a:avLst/>
          </a:prstGeom>
        </p:spPr>
      </p:pic>
      <p:sp>
        <p:nvSpPr>
          <p:cNvPr id="1572094599" name="Text 4"/>
          <p:cNvSpPr/>
          <p:nvPr/>
        </p:nvSpPr>
        <p:spPr bwMode="auto">
          <a:xfrm>
            <a:off x="4561880" y="3417888"/>
            <a:ext cx="2362696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Isolation Forest</a:t>
            </a:r>
            <a:endParaRPr lang="en-US"/>
          </a:p>
        </p:txBody>
      </p:sp>
      <p:sp>
        <p:nvSpPr>
          <p:cNvPr id="1924923083" name="Text 5"/>
          <p:cNvSpPr/>
          <p:nvPr/>
        </p:nvSpPr>
        <p:spPr bwMode="auto">
          <a:xfrm>
            <a:off x="4561880" y="3826569"/>
            <a:ext cx="306814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Détecte les mois anormaux sans supervision humaine. 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3 crises sur 3 retrouvées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(recall 100 %).</a:t>
            </a:r>
            <a:endParaRPr lang="en-US" sz="1450"/>
          </a:p>
        </p:txBody>
      </p:sp>
      <p:pic>
        <p:nvPicPr>
          <p:cNvPr id="1408550056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33444" y="2636440"/>
            <a:ext cx="3496965" cy="2614216"/>
          </a:xfrm>
          <a:prstGeom prst="rect">
            <a:avLst/>
          </a:prstGeom>
        </p:spPr>
      </p:pic>
      <p:sp>
        <p:nvSpPr>
          <p:cNvPr id="380837399" name="Text 6"/>
          <p:cNvSpPr/>
          <p:nvPr/>
        </p:nvSpPr>
        <p:spPr bwMode="auto">
          <a:xfrm>
            <a:off x="8247857" y="3417888"/>
            <a:ext cx="3012777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Indice de Risque Pays (IRP)</a:t>
            </a:r>
            <a:endParaRPr lang="en-US"/>
          </a:p>
        </p:txBody>
      </p:sp>
      <p:sp>
        <p:nvSpPr>
          <p:cNvPr id="1085776671" name="Text 7"/>
          <p:cNvSpPr/>
          <p:nvPr/>
        </p:nvSpPr>
        <p:spPr bwMode="auto">
          <a:xfrm>
            <a:off x="8247856" y="3826569"/>
            <a:ext cx="306814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sz="1450" i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IRP = 0.4 × RF + 0.4 × IF + 0.2 × % 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violent observé. </a:t>
            </a:r>
            <a:r>
              <a:rPr lang="en-US" sz="14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AVR 2025 : ALERTE (0.717)</a:t>
            </a:r>
            <a:r>
              <a:rPr lang="en-US" sz="14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· JAN 2025 : VIGILANCE (0.554).</a:t>
            </a:r>
            <a:endParaRPr lang="en-US" sz="1450"/>
          </a:p>
        </p:txBody>
      </p:sp>
      <p:sp>
        <p:nvSpPr>
          <p:cNvPr id="960285183" name="Text 8"/>
          <p:cNvSpPr/>
          <p:nvPr/>
        </p:nvSpPr>
        <p:spPr bwMode="auto">
          <a:xfrm>
            <a:off x="661492" y="5803006"/>
            <a:ext cx="1086901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33000"/>
              </a:lnSpc>
              <a:defRPr/>
            </a:pPr>
            <a:r>
              <a:rPr lang="en-US" sz="11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6 / 10</a:t>
            </a:r>
            <a:endParaRPr lang="en-US" sz="1150"/>
          </a:p>
        </p:txBody>
      </p:sp>
      <p:sp>
        <p:nvSpPr>
          <p:cNvPr id="516375593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33012" name="Text 0"/>
          <p:cNvSpPr/>
          <p:nvPr/>
        </p:nvSpPr>
        <p:spPr bwMode="auto">
          <a:xfrm>
            <a:off x="661492" y="623391"/>
            <a:ext cx="474672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29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La Preuve : Backtesting</a:t>
            </a:r>
            <a:endParaRPr lang="en-US" sz="2950" b="1">
              <a:latin typeface="Garamond"/>
            </a:endParaRPr>
          </a:p>
        </p:txBody>
      </p:sp>
      <p:sp>
        <p:nvSpPr>
          <p:cNvPr id="1357375941" name="Text 1"/>
          <p:cNvSpPr/>
          <p:nvPr/>
        </p:nvSpPr>
        <p:spPr bwMode="auto">
          <a:xfrm>
            <a:off x="661492" y="1337767"/>
            <a:ext cx="11478617" cy="217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  <a:defRPr/>
            </a:pPr>
            <a:r>
              <a:rPr lang="en-US" sz="1150" i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On a caché décembre au modèle. Il l'a quand même détecté.</a:t>
            </a:r>
            <a:endParaRPr lang="en-US" sz="1150"/>
          </a:p>
        </p:txBody>
      </p:sp>
      <p:pic>
        <p:nvPicPr>
          <p:cNvPr id="140432905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542507" y="1691482"/>
            <a:ext cx="5106988" cy="3031033"/>
          </a:xfrm>
          <a:prstGeom prst="rect">
            <a:avLst/>
          </a:prstGeom>
        </p:spPr>
      </p:pic>
      <p:sp>
        <p:nvSpPr>
          <p:cNvPr id="969478000" name="Text 2"/>
          <p:cNvSpPr/>
          <p:nvPr/>
        </p:nvSpPr>
        <p:spPr bwMode="auto">
          <a:xfrm>
            <a:off x="6792253" y="4019450"/>
            <a:ext cx="1574288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5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Détecter</a:t>
            </a:r>
            <a:endParaRPr lang="en-US" sz="1550"/>
          </a:p>
        </p:txBody>
      </p:sp>
      <p:sp>
        <p:nvSpPr>
          <p:cNvPr id="2119751551" name="Text 3"/>
          <p:cNvSpPr/>
          <p:nvPr/>
        </p:nvSpPr>
        <p:spPr bwMode="auto">
          <a:xfrm>
            <a:off x="5192350" y="4019450"/>
            <a:ext cx="1574289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5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Tester</a:t>
            </a:r>
            <a:endParaRPr lang="en-US" sz="1550"/>
          </a:p>
        </p:txBody>
      </p:sp>
      <p:sp>
        <p:nvSpPr>
          <p:cNvPr id="1711840393" name="Text 4"/>
          <p:cNvSpPr/>
          <p:nvPr/>
        </p:nvSpPr>
        <p:spPr bwMode="auto">
          <a:xfrm>
            <a:off x="3566361" y="4019450"/>
            <a:ext cx="1574289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  <a:defRPr/>
            </a:pPr>
            <a:r>
              <a:rPr lang="en-US" sz="15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Entraîner</a:t>
            </a:r>
            <a:endParaRPr lang="en-US" sz="1550"/>
          </a:p>
        </p:txBody>
      </p:sp>
      <p:sp>
        <p:nvSpPr>
          <p:cNvPr id="70086435" name="Shape 5"/>
          <p:cNvSpPr/>
          <p:nvPr/>
        </p:nvSpPr>
        <p:spPr bwMode="auto">
          <a:xfrm>
            <a:off x="552648" y="4858544"/>
            <a:ext cx="5467747" cy="1022349"/>
          </a:xfrm>
          <a:prstGeom prst="roundRect">
            <a:avLst>
              <a:gd name="adj" fmla="val 20018"/>
            </a:avLst>
          </a:prstGeom>
          <a:solidFill>
            <a:srgbClr val="3257B8"/>
          </a:solidFill>
          <a:ln/>
        </p:spPr>
      </p:sp>
      <p:sp>
        <p:nvSpPr>
          <p:cNvPr id="1387979256" name="Text 6"/>
          <p:cNvSpPr/>
          <p:nvPr/>
        </p:nvSpPr>
        <p:spPr bwMode="auto">
          <a:xfrm>
            <a:off x="703857" y="4979491"/>
            <a:ext cx="249981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450">
                <a:solidFill>
                  <a:srgbClr val="FFFFFF"/>
                </a:solidFill>
                <a:latin typeface="Roboto Slab"/>
                <a:ea typeface="Roboto Slab"/>
                <a:cs typeface="Roboto Slab"/>
              </a:rPr>
              <a:t>Résultat</a:t>
            </a:r>
            <a:endParaRPr lang="en-US" sz="1450"/>
          </a:p>
        </p:txBody>
      </p:sp>
      <p:sp>
        <p:nvSpPr>
          <p:cNvPr id="2007005784" name="Text 7"/>
          <p:cNvSpPr/>
          <p:nvPr/>
        </p:nvSpPr>
        <p:spPr bwMode="auto">
          <a:xfrm>
            <a:off x="703857" y="5336679"/>
            <a:ext cx="516532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1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La tentative de coup d'État du </a:t>
            </a:r>
            <a:r>
              <a:rPr lang="en-US" sz="1150" b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 décembre</a:t>
            </a:r>
            <a:r>
              <a:rPr lang="en-US" sz="115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aurait été signalée automatiquement par un modèle qui ne l'avait jamais vue.</a:t>
            </a:r>
            <a:endParaRPr lang="en-US" sz="1150"/>
          </a:p>
        </p:txBody>
      </p:sp>
      <p:sp>
        <p:nvSpPr>
          <p:cNvPr id="505866924" name="Text 8"/>
          <p:cNvSpPr/>
          <p:nvPr/>
        </p:nvSpPr>
        <p:spPr bwMode="auto">
          <a:xfrm>
            <a:off x="6286798" y="4979491"/>
            <a:ext cx="253027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450">
                <a:solidFill>
                  <a:srgbClr val="3257B8"/>
                </a:solidFill>
                <a:latin typeface="Roboto Slab"/>
                <a:ea typeface="Roboto Slab"/>
                <a:cs typeface="Roboto Slab"/>
              </a:rPr>
              <a:t>Honnêteté analytique</a:t>
            </a:r>
            <a:endParaRPr lang="en-US" sz="1450"/>
          </a:p>
        </p:txBody>
      </p:sp>
      <p:sp>
        <p:nvSpPr>
          <p:cNvPr id="2140262050" name="Text 9"/>
          <p:cNvSpPr/>
          <p:nvPr/>
        </p:nvSpPr>
        <p:spPr bwMode="auto">
          <a:xfrm>
            <a:off x="6286798" y="5336679"/>
            <a:ext cx="525006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Le modèle détecte </a:t>
            </a:r>
            <a:r>
              <a:rPr lang="en-US" sz="11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1 composante sur 3</a:t>
            </a: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pour décembre. C'est un signal, pas une certitude nous l'assumons et le documentons.</a:t>
            </a:r>
            <a:endParaRPr lang="en-US" sz="1150"/>
          </a:p>
        </p:txBody>
      </p:sp>
      <p:sp>
        <p:nvSpPr>
          <p:cNvPr id="1853921105" name="Text 10"/>
          <p:cNvSpPr/>
          <p:nvPr/>
        </p:nvSpPr>
        <p:spPr bwMode="auto">
          <a:xfrm>
            <a:off x="51893" y="6016923"/>
            <a:ext cx="10869017" cy="217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  <a:defRPr/>
            </a:pPr>
            <a:r>
              <a:rPr lang="en-US" sz="11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7 / 10</a:t>
            </a:r>
            <a:endParaRPr lang="en-US" sz="1150"/>
          </a:p>
        </p:txBody>
      </p:sp>
      <p:sp>
        <p:nvSpPr>
          <p:cNvPr id="484033743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95200" name="Text 0"/>
          <p:cNvSpPr/>
          <p:nvPr/>
        </p:nvSpPr>
        <p:spPr bwMode="auto">
          <a:xfrm>
            <a:off x="661492" y="723999"/>
            <a:ext cx="533211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27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Démo</a:t>
            </a:r>
            <a:r>
              <a:rPr lang="en-US" sz="27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 : Dashboard en Ligne</a:t>
            </a:r>
            <a:endParaRPr lang="en-US" sz="2750" b="1">
              <a:latin typeface="Garamond"/>
            </a:endParaRPr>
          </a:p>
        </p:txBody>
      </p:sp>
      <p:sp>
        <p:nvSpPr>
          <p:cNvPr id="817057749" name="Text 1"/>
          <p:cNvSpPr/>
          <p:nvPr/>
        </p:nvSpPr>
        <p:spPr bwMode="auto">
          <a:xfrm>
            <a:off x="661492" y="1326455"/>
            <a:ext cx="62970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Accessible maintenant, </a:t>
            </a:r>
            <a:r>
              <a:rPr lang="en-US" sz="10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gratuitement, sans installation</a:t>
            </a: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. Un journaliste, un diplomate, un chercheur peut l'utiliser sans formation technique.</a:t>
            </a:r>
            <a:endParaRPr lang="en-US" sz="1050"/>
          </a:p>
        </p:txBody>
      </p:sp>
      <p:sp>
        <p:nvSpPr>
          <p:cNvPr id="1027979541" name="Shape 2"/>
          <p:cNvSpPr/>
          <p:nvPr/>
        </p:nvSpPr>
        <p:spPr bwMode="auto">
          <a:xfrm>
            <a:off x="661492" y="1842890"/>
            <a:ext cx="6297017" cy="766961"/>
          </a:xfrm>
          <a:prstGeom prst="roundRect">
            <a:avLst>
              <a:gd name="adj" fmla="val 12263"/>
            </a:avLst>
          </a:prstGeom>
          <a:solidFill>
            <a:srgbClr val="E9ECF2"/>
          </a:solidFill>
          <a:ln/>
        </p:spPr>
      </p:sp>
      <p:sp>
        <p:nvSpPr>
          <p:cNvPr id="1585415707" name="Text 3"/>
          <p:cNvSpPr/>
          <p:nvPr/>
        </p:nvSpPr>
        <p:spPr bwMode="auto">
          <a:xfrm>
            <a:off x="803177" y="1984573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Vue d'ensemble</a:t>
            </a:r>
            <a:endParaRPr lang="en-US" sz="1350"/>
          </a:p>
        </p:txBody>
      </p:sp>
      <p:sp>
        <p:nvSpPr>
          <p:cNvPr id="915839190" name="Text 4"/>
          <p:cNvSpPr/>
          <p:nvPr/>
        </p:nvSpPr>
        <p:spPr bwMode="auto">
          <a:xfrm>
            <a:off x="803176" y="2269728"/>
            <a:ext cx="6013648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KPIs, IRP mensuel et timeline médiatique</a:t>
            </a:r>
            <a:endParaRPr lang="en-US" sz="1050"/>
          </a:p>
        </p:txBody>
      </p:sp>
      <p:sp>
        <p:nvSpPr>
          <p:cNvPr id="2019456415" name="Shape 5"/>
          <p:cNvSpPr/>
          <p:nvPr/>
        </p:nvSpPr>
        <p:spPr bwMode="auto">
          <a:xfrm>
            <a:off x="661492" y="2716114"/>
            <a:ext cx="6297017" cy="766961"/>
          </a:xfrm>
          <a:prstGeom prst="roundRect">
            <a:avLst>
              <a:gd name="adj" fmla="val 22940"/>
            </a:avLst>
          </a:prstGeom>
          <a:solidFill>
            <a:srgbClr val="E9ECF2"/>
          </a:solidFill>
          <a:ln/>
        </p:spPr>
      </p:sp>
      <p:sp>
        <p:nvSpPr>
          <p:cNvPr id="866156283" name="Text 6"/>
          <p:cNvSpPr/>
          <p:nvPr/>
        </p:nvSpPr>
        <p:spPr bwMode="auto">
          <a:xfrm>
            <a:off x="803177" y="2857797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Géographie</a:t>
            </a:r>
            <a:endParaRPr lang="en-US" sz="1350"/>
          </a:p>
        </p:txBody>
      </p:sp>
      <p:sp>
        <p:nvSpPr>
          <p:cNvPr id="1854333100" name="Text 7"/>
          <p:cNvSpPr/>
          <p:nvPr/>
        </p:nvSpPr>
        <p:spPr bwMode="auto">
          <a:xfrm>
            <a:off x="803176" y="3142952"/>
            <a:ext cx="6013648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Carte des risques et fracture nord/sud</a:t>
            </a:r>
            <a:endParaRPr lang="en-US" sz="1050"/>
          </a:p>
        </p:txBody>
      </p:sp>
      <p:sp>
        <p:nvSpPr>
          <p:cNvPr id="1208419842" name="Shape 8"/>
          <p:cNvSpPr/>
          <p:nvPr/>
        </p:nvSpPr>
        <p:spPr bwMode="auto">
          <a:xfrm>
            <a:off x="661492" y="3589338"/>
            <a:ext cx="6297017" cy="766961"/>
          </a:xfrm>
          <a:prstGeom prst="roundRect">
            <a:avLst>
              <a:gd name="adj" fmla="val 15822"/>
            </a:avLst>
          </a:prstGeom>
          <a:solidFill>
            <a:srgbClr val="E9ECF2"/>
          </a:solidFill>
          <a:ln/>
        </p:spPr>
      </p:sp>
      <p:sp>
        <p:nvSpPr>
          <p:cNvPr id="826804141" name="Text 9"/>
          <p:cNvSpPr/>
          <p:nvPr/>
        </p:nvSpPr>
        <p:spPr bwMode="auto">
          <a:xfrm>
            <a:off x="803177" y="3731021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Médias</a:t>
            </a:r>
            <a:endParaRPr lang="en-US" sz="1350"/>
          </a:p>
        </p:txBody>
      </p:sp>
      <p:sp>
        <p:nvSpPr>
          <p:cNvPr id="1006832622" name="Text 10"/>
          <p:cNvSpPr/>
          <p:nvPr/>
        </p:nvSpPr>
        <p:spPr bwMode="auto">
          <a:xfrm>
            <a:off x="803176" y="4016176"/>
            <a:ext cx="6013648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Top sources, biais et communautés linguistiques</a:t>
            </a:r>
            <a:endParaRPr lang="en-US" sz="1050"/>
          </a:p>
        </p:txBody>
      </p:sp>
      <p:sp>
        <p:nvSpPr>
          <p:cNvPr id="1189833336" name="Shape 11"/>
          <p:cNvSpPr/>
          <p:nvPr/>
        </p:nvSpPr>
        <p:spPr bwMode="auto">
          <a:xfrm>
            <a:off x="661492" y="4462562"/>
            <a:ext cx="6297017" cy="766961"/>
          </a:xfrm>
          <a:prstGeom prst="roundRect">
            <a:avLst>
              <a:gd name="adj" fmla="val 12263"/>
            </a:avLst>
          </a:prstGeom>
          <a:solidFill>
            <a:srgbClr val="E9ECF2"/>
          </a:solidFill>
          <a:ln/>
        </p:spPr>
      </p:sp>
      <p:sp>
        <p:nvSpPr>
          <p:cNvPr id="648141683" name="Text 12"/>
          <p:cNvSpPr/>
          <p:nvPr/>
        </p:nvSpPr>
        <p:spPr bwMode="auto">
          <a:xfrm>
            <a:off x="803177" y="4604247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3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Modèles ML</a:t>
            </a:r>
            <a:endParaRPr lang="en-US" sz="1350"/>
          </a:p>
        </p:txBody>
      </p:sp>
      <p:sp>
        <p:nvSpPr>
          <p:cNvPr id="1521670458" name="Text 13"/>
          <p:cNvSpPr/>
          <p:nvPr/>
        </p:nvSpPr>
        <p:spPr bwMode="auto">
          <a:xfrm>
            <a:off x="803176" y="4889402"/>
            <a:ext cx="6013648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Random Forest, Isolation Forest et backtesting</a:t>
            </a:r>
            <a:endParaRPr lang="en-US" sz="1050"/>
          </a:p>
        </p:txBody>
      </p:sp>
      <p:sp>
        <p:nvSpPr>
          <p:cNvPr id="296754119" name="Shape 14"/>
          <p:cNvSpPr/>
          <p:nvPr/>
        </p:nvSpPr>
        <p:spPr bwMode="auto">
          <a:xfrm>
            <a:off x="661492" y="5349081"/>
            <a:ext cx="6297017" cy="506611"/>
          </a:xfrm>
          <a:prstGeom prst="roundRect">
            <a:avLst>
              <a:gd name="adj" fmla="val 18566"/>
            </a:avLst>
          </a:prstGeom>
          <a:solidFill>
            <a:srgbClr val="B6D6FC"/>
          </a:solidFill>
          <a:ln/>
        </p:spPr>
      </p:sp>
      <p:pic>
        <p:nvPicPr>
          <p:cNvPr id="1603065392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3176" y="5548214"/>
            <a:ext cx="177205" cy="141684"/>
          </a:xfrm>
          <a:prstGeom prst="rect">
            <a:avLst/>
          </a:prstGeom>
        </p:spPr>
      </p:pic>
      <p:sp>
        <p:nvSpPr>
          <p:cNvPr id="1305812876" name="Text 15"/>
          <p:cNvSpPr/>
          <p:nvPr/>
        </p:nvSpPr>
        <p:spPr bwMode="auto">
          <a:xfrm>
            <a:off x="1122065" y="5490766"/>
            <a:ext cx="6304360" cy="198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7000"/>
              </a:lnSpc>
              <a:defRPr/>
            </a:pPr>
            <a:r>
              <a:rPr lang="en-US" sz="105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🔗 </a:t>
            </a:r>
            <a:r>
              <a:rPr lang="en-US" sz="105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benin-insights-challenge-grp16-jdzixsnnddw6zxn24en6kl.streamlit.app</a:t>
            </a:r>
            <a:endParaRPr lang="en-US" sz="1050"/>
          </a:p>
        </p:txBody>
      </p:sp>
      <p:sp>
        <p:nvSpPr>
          <p:cNvPr id="1498018787" name="Text 16"/>
          <p:cNvSpPr/>
          <p:nvPr/>
        </p:nvSpPr>
        <p:spPr bwMode="auto">
          <a:xfrm>
            <a:off x="434030" y="6499027"/>
            <a:ext cx="6297017" cy="158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17000"/>
              </a:lnSpc>
              <a:defRPr/>
            </a:pPr>
            <a:r>
              <a:rPr lang="en-US" sz="8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8 / 10</a:t>
            </a:r>
            <a:endParaRPr lang="en-US" sz="850"/>
          </a:p>
        </p:txBody>
      </p:sp>
      <p:pic>
        <p:nvPicPr>
          <p:cNvPr id="1144041352" name="Image 23"/>
          <p:cNvPicPr>
            <a:picLocks noChangeAspect="1"/>
          </p:cNvPicPr>
          <p:nvPr/>
        </p:nvPicPr>
        <p:blipFill rotWithShape="1">
          <a:blip r:embed="rId4"/>
          <a:srcRect l="0" t="0" r="0" b="7853"/>
          <a:stretch/>
        </p:blipFill>
        <p:spPr bwMode="auto">
          <a:xfrm>
            <a:off x="7033147" y="-1"/>
            <a:ext cx="5158852" cy="6858001"/>
          </a:xfrm>
          <a:prstGeom prst="rect">
            <a:avLst/>
          </a:prstGeom>
        </p:spPr>
      </p:pic>
      <p:sp>
        <p:nvSpPr>
          <p:cNvPr id="37392030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12923" name="Text 0"/>
          <p:cNvSpPr/>
          <p:nvPr/>
        </p:nvSpPr>
        <p:spPr bwMode="auto">
          <a:xfrm>
            <a:off x="661492" y="561876"/>
            <a:ext cx="478542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29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Avantages</a:t>
            </a:r>
            <a:r>
              <a:rPr lang="en-US" sz="29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 </a:t>
            </a:r>
            <a:r>
              <a:rPr lang="en-US" sz="2950" b="1">
                <a:solidFill>
                  <a:srgbClr val="3257B8"/>
                </a:solidFill>
                <a:latin typeface="Garamond"/>
                <a:ea typeface="Roboto Slab"/>
                <a:cs typeface="Roboto Slab"/>
              </a:rPr>
              <a:t>compétitifs</a:t>
            </a:r>
            <a:endParaRPr lang="en-US" sz="2950" b="1">
              <a:solidFill>
                <a:srgbClr val="3257B8"/>
              </a:solidFill>
              <a:latin typeface="Garamond"/>
              <a:ea typeface="Roboto Slab"/>
              <a:cs typeface="Roboto Slab"/>
            </a:endParaRPr>
          </a:p>
        </p:txBody>
      </p:sp>
      <p:sp>
        <p:nvSpPr>
          <p:cNvPr id="269607251" name="Text 1"/>
          <p:cNvSpPr/>
          <p:nvPr/>
        </p:nvSpPr>
        <p:spPr bwMode="auto">
          <a:xfrm>
            <a:off x="661492" y="1215728"/>
            <a:ext cx="6297017" cy="1304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  <a:defRPr/>
            </a:pPr>
            <a:r>
              <a:rPr lang="en-US" sz="4050">
                <a:solidFill>
                  <a:srgbClr val="1E88E5"/>
                </a:solidFill>
                <a:latin typeface="Roboto Slab"/>
                <a:ea typeface="Roboto Slab"/>
                <a:cs typeface="Roboto Slab"/>
              </a:rPr>
              <a:t>Pourquoi nous sommes différents</a:t>
            </a:r>
            <a:endParaRPr lang="en-US" sz="4050"/>
          </a:p>
        </p:txBody>
      </p:sp>
      <p:sp>
        <p:nvSpPr>
          <p:cNvPr id="870855478" name="Shape 2"/>
          <p:cNvSpPr/>
          <p:nvPr/>
        </p:nvSpPr>
        <p:spPr bwMode="auto">
          <a:xfrm>
            <a:off x="661492" y="2928044"/>
            <a:ext cx="3087985" cy="1727795"/>
          </a:xfrm>
          <a:prstGeom prst="roundRect">
            <a:avLst>
              <a:gd name="adj" fmla="val 581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805243473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61492" y="2908995"/>
            <a:ext cx="3087985" cy="235499"/>
          </a:xfrm>
          <a:prstGeom prst="rect">
            <a:avLst/>
          </a:prstGeom>
        </p:spPr>
      </p:pic>
      <p:pic>
        <p:nvPicPr>
          <p:cNvPr id="1445429244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978621" y="2701231"/>
            <a:ext cx="453628" cy="453628"/>
          </a:xfrm>
          <a:prstGeom prst="rect">
            <a:avLst/>
          </a:prstGeom>
        </p:spPr>
      </p:pic>
      <p:pic>
        <p:nvPicPr>
          <p:cNvPr id="1749409139" name="Image 3" descr="preencoded.png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1849785" y="2657626"/>
            <a:ext cx="438447" cy="438447"/>
          </a:xfrm>
          <a:prstGeom prst="rect">
            <a:avLst/>
          </a:prstGeom>
        </p:spPr>
      </p:pic>
      <p:sp>
        <p:nvSpPr>
          <p:cNvPr id="2037484108" name="Text 3"/>
          <p:cNvSpPr/>
          <p:nvPr/>
        </p:nvSpPr>
        <p:spPr bwMode="auto">
          <a:xfrm>
            <a:off x="831751" y="3306068"/>
            <a:ext cx="247451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Un produit, pas une analyse</a:t>
            </a:r>
            <a:endParaRPr lang="en-US" sz="1450"/>
          </a:p>
        </p:txBody>
      </p:sp>
      <p:sp>
        <p:nvSpPr>
          <p:cNvPr id="1408642077" name="Text 4"/>
          <p:cNvSpPr/>
          <p:nvPr/>
        </p:nvSpPr>
        <p:spPr bwMode="auto">
          <a:xfrm>
            <a:off x="831751" y="3614837"/>
            <a:ext cx="274746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Notre dashboard est en ligne maintenant. Un journaliste, un diplomate ou un chercheur peut l'utiliser </a:t>
            </a:r>
            <a:r>
              <a:rPr lang="en-US" sz="11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sans formation technique</a:t>
            </a: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.</a:t>
            </a:r>
            <a:endParaRPr lang="en-US" sz="1150"/>
          </a:p>
        </p:txBody>
      </p:sp>
      <p:sp>
        <p:nvSpPr>
          <p:cNvPr id="217586112" name="Shape 5"/>
          <p:cNvSpPr/>
          <p:nvPr/>
        </p:nvSpPr>
        <p:spPr bwMode="auto">
          <a:xfrm>
            <a:off x="3870425" y="2928044"/>
            <a:ext cx="3088084" cy="1727795"/>
          </a:xfrm>
          <a:prstGeom prst="roundRect">
            <a:avLst>
              <a:gd name="adj" fmla="val 634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264124806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70425" y="2908994"/>
            <a:ext cx="3088084" cy="260945"/>
          </a:xfrm>
          <a:prstGeom prst="rect">
            <a:avLst/>
          </a:prstGeom>
        </p:spPr>
      </p:pic>
      <p:pic>
        <p:nvPicPr>
          <p:cNvPr id="1651614032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87653" y="2701231"/>
            <a:ext cx="453628" cy="453628"/>
          </a:xfrm>
          <a:prstGeom prst="rect">
            <a:avLst/>
          </a:prstGeom>
        </p:spPr>
      </p:pic>
      <p:pic>
        <p:nvPicPr>
          <p:cNvPr id="747585520" name="Image 6" descr="preencoded.png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5187653" y="2701231"/>
            <a:ext cx="317500" cy="317500"/>
          </a:xfrm>
          <a:prstGeom prst="rect">
            <a:avLst/>
          </a:prstGeom>
        </p:spPr>
      </p:pic>
      <p:sp>
        <p:nvSpPr>
          <p:cNvPr id="797138705" name="Text 6"/>
          <p:cNvSpPr/>
          <p:nvPr/>
        </p:nvSpPr>
        <p:spPr bwMode="auto">
          <a:xfrm>
            <a:off x="4040684" y="3306068"/>
            <a:ext cx="203626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L'honnêteté analytique</a:t>
            </a:r>
            <a:endParaRPr lang="en-US" sz="1450"/>
          </a:p>
        </p:txBody>
      </p:sp>
      <p:sp>
        <p:nvSpPr>
          <p:cNvPr id="873043080" name="Text 7"/>
          <p:cNvSpPr/>
          <p:nvPr/>
        </p:nvSpPr>
        <p:spPr bwMode="auto">
          <a:xfrm>
            <a:off x="4040684" y="3614837"/>
            <a:ext cx="2747565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Nous avons identifié le data leakage, exclu les variables biaisées et </a:t>
            </a:r>
            <a:r>
              <a:rPr lang="en-US" sz="1150" b="1">
                <a:solidFill>
                  <a:srgbClr val="15213F"/>
                </a:solidFill>
                <a:latin typeface="Roboto"/>
                <a:ea typeface="Roboto"/>
                <a:cs typeface="Roboto"/>
              </a:rPr>
              <a:t>documenté les limites</a:t>
            </a: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 de nos modèles avec transparence.</a:t>
            </a:r>
            <a:endParaRPr lang="en-US" sz="1150"/>
          </a:p>
        </p:txBody>
      </p:sp>
      <p:sp>
        <p:nvSpPr>
          <p:cNvPr id="1409908686" name="Shape 8"/>
          <p:cNvSpPr/>
          <p:nvPr/>
        </p:nvSpPr>
        <p:spPr bwMode="auto">
          <a:xfrm>
            <a:off x="661492" y="5003601"/>
            <a:ext cx="6297017" cy="1292424"/>
          </a:xfrm>
          <a:prstGeom prst="roundRect">
            <a:avLst>
              <a:gd name="adj" fmla="val 1622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1465371515" name="Image 7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661492" y="4984552"/>
            <a:ext cx="6297017" cy="236240"/>
          </a:xfrm>
          <a:prstGeom prst="rect">
            <a:avLst/>
          </a:prstGeom>
        </p:spPr>
      </p:pic>
      <p:pic>
        <p:nvPicPr>
          <p:cNvPr id="1149202059" name="Image 8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83186" y="4776789"/>
            <a:ext cx="453628" cy="453628"/>
          </a:xfrm>
          <a:prstGeom prst="rect">
            <a:avLst/>
          </a:prstGeom>
        </p:spPr>
      </p:pic>
      <p:pic>
        <p:nvPicPr>
          <p:cNvPr id="1761925968" name="Image 9" descr="preencoded.png"/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 bwMode="auto">
          <a:xfrm>
            <a:off x="3534766" y="4728368"/>
            <a:ext cx="365921" cy="365921"/>
          </a:xfrm>
          <a:prstGeom prst="rect">
            <a:avLst/>
          </a:prstGeom>
        </p:spPr>
      </p:pic>
      <p:sp>
        <p:nvSpPr>
          <p:cNvPr id="1504334068" name="Text 9"/>
          <p:cNvSpPr/>
          <p:nvPr/>
        </p:nvSpPr>
        <p:spPr bwMode="auto">
          <a:xfrm>
            <a:off x="831751" y="5381625"/>
            <a:ext cx="254188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  <a:defRPr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</a:rPr>
              <a:t>Un score unique actionnable</a:t>
            </a:r>
            <a:endParaRPr lang="en-US" sz="1450"/>
          </a:p>
        </p:txBody>
      </p:sp>
      <p:sp>
        <p:nvSpPr>
          <p:cNvPr id="28655294" name="Text 10"/>
          <p:cNvSpPr/>
          <p:nvPr/>
        </p:nvSpPr>
        <p:spPr bwMode="auto">
          <a:xfrm>
            <a:off x="831751" y="5690394"/>
            <a:ext cx="595649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L'IRP combine deux modèles ML en un seul chiffre. Un décideur n'a pas besoin de comprendre le Random Forest </a:t>
            </a:r>
            <a:r>
              <a:rPr lang="en-US" sz="1150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sz="1150" b="1">
                <a:solidFill>
                  <a:schemeClr val="accent1">
                    <a:lumMod val="50000"/>
                  </a:schemeClr>
                </a:solidFill>
                <a:latin typeface="Roboto"/>
                <a:ea typeface="Roboto"/>
                <a:cs typeface="Roboto"/>
              </a:rPr>
              <a:t>il a besoin d'une couleur</a:t>
            </a: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</a:rPr>
              <a:t>.</a:t>
            </a:r>
            <a:endParaRPr lang="en-US" sz="1150"/>
          </a:p>
        </p:txBody>
      </p:sp>
      <p:pic>
        <p:nvPicPr>
          <p:cNvPr id="1416486233" name="Image 23"/>
          <p:cNvPicPr>
            <a:picLocks noChangeAspect="1"/>
          </p:cNvPicPr>
          <p:nvPr/>
        </p:nvPicPr>
        <p:blipFill rotWithShape="1">
          <a:blip r:embed="rId12"/>
          <a:srcRect l="10834" t="0" r="15533" b="0"/>
          <a:stretch/>
        </p:blipFill>
        <p:spPr bwMode="auto">
          <a:xfrm>
            <a:off x="7468952" y="-1"/>
            <a:ext cx="4723048" cy="6858001"/>
          </a:xfrm>
          <a:prstGeom prst="rect">
            <a:avLst/>
          </a:prstGeom>
        </p:spPr>
      </p:pic>
      <p:sp>
        <p:nvSpPr>
          <p:cNvPr id="1131041919" name="Google Shape;103;p14"/>
          <p:cNvSpPr txBox="1"/>
          <p:nvPr/>
        </p:nvSpPr>
        <p:spPr bwMode="auto">
          <a:xfrm>
            <a:off x="10450967" y="428783"/>
            <a:ext cx="1628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"/>
                <a:cs typeface="Plus Jakarta Sans"/>
              </a:rPr>
              <a:t>Benin Insights </a:t>
            </a:r>
            <a:r>
              <a:rPr lang="en-US" sz="1200" b="1" i="0" u="none" strike="noStrike" spc="300">
                <a:ln w="0"/>
                <a:solidFill>
                  <a:schemeClr val="bg1"/>
                </a:solidFill>
                <a:latin typeface="Algerian"/>
                <a:ea typeface="Plus Jakarta Sans Medium"/>
                <a:cs typeface="Plus Jakarta Sans Medium"/>
              </a:rPr>
              <a:t>Baobab Intelligence</a:t>
            </a:r>
            <a:endParaRPr b="1" spc="300">
              <a:ln w="0"/>
              <a:solidFill>
                <a:schemeClr val="bg1"/>
              </a:solidFill>
              <a:latin typeface="Algeri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459076" name="Text 0"/>
          <p:cNvSpPr/>
          <p:nvPr/>
        </p:nvSpPr>
        <p:spPr bwMode="auto">
          <a:xfrm>
            <a:off x="568895" y="774205"/>
            <a:ext cx="60902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04000"/>
              </a:lnSpc>
              <a:defRPr/>
            </a:pPr>
            <a:r>
              <a:rPr lang="en-US" sz="3650" b="1">
                <a:solidFill>
                  <a:srgbClr val="3257B8"/>
                </a:solidFill>
                <a:latin typeface="Roboto Slab"/>
                <a:ea typeface="Roboto Slab"/>
                <a:cs typeface="Roboto Slab"/>
              </a:rPr>
              <a:t>BAOBAB INTELLIGENCE</a:t>
            </a:r>
            <a:endParaRPr lang="en-US" sz="3650" b="1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77767444" name="Text 1"/>
          <p:cNvSpPr/>
          <p:nvPr/>
        </p:nvSpPr>
        <p:spPr bwMode="auto">
          <a:xfrm>
            <a:off x="486138" y="1559286"/>
            <a:ext cx="7340632" cy="1727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04000"/>
              </a:lnSpc>
              <a:defRPr/>
            </a:pPr>
            <a:r>
              <a:rPr lang="en-US" sz="8000" b="1">
                <a:ln w="22225">
                  <a:solidFill>
                    <a:srgbClr val="4472C4">
                      <a:lumMod val="50000"/>
                    </a:srgbClr>
                  </a:solidFill>
                  <a:prstDash val="solid"/>
                </a:ln>
                <a:solidFill>
                  <a:prstClr val="white"/>
                </a:solidFill>
                <a:latin typeface="Bodoni MT Black"/>
                <a:ea typeface="Roboto Slab"/>
                <a:cs typeface="Roboto Slab"/>
              </a:rPr>
              <a:t>Merci </a:t>
            </a:r>
            <a:endParaRPr lang="en-US" sz="8000" b="1">
              <a:ln w="22225">
                <a:solidFill>
                  <a:srgbClr val="4472C4">
                    <a:lumMod val="50000"/>
                  </a:srgbClr>
                </a:solidFill>
                <a:prstDash val="solid"/>
              </a:ln>
              <a:solidFill>
                <a:prstClr val="white"/>
              </a:solidFill>
              <a:latin typeface="Bodoni MT Black"/>
            </a:endParaRPr>
          </a:p>
        </p:txBody>
      </p:sp>
      <p:sp>
        <p:nvSpPr>
          <p:cNvPr id="124905654" name="Text 2"/>
          <p:cNvSpPr/>
          <p:nvPr/>
        </p:nvSpPr>
        <p:spPr bwMode="auto">
          <a:xfrm>
            <a:off x="3282337" y="6096055"/>
            <a:ext cx="11478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33000"/>
              </a:lnSpc>
              <a:defRPr/>
            </a:pPr>
            <a:r>
              <a:rPr lang="en-US" sz="2150" b="1" i="1" spc="400">
                <a:solidFill>
                  <a:prstClr val="white"/>
                </a:solidFill>
                <a:latin typeface="Gabriola"/>
                <a:ea typeface="Roboto"/>
                <a:cs typeface="Roboto"/>
              </a:rPr>
              <a:t>iSHEERO × DataCamp Donates · Hackathon 2026 · Groupe 16</a:t>
            </a:r>
            <a:endParaRPr lang="en-US" sz="2150" b="1" i="1" spc="400">
              <a:solidFill>
                <a:prstClr val="white"/>
              </a:solidFill>
              <a:latin typeface="Gabriola"/>
            </a:endParaRPr>
          </a:p>
        </p:txBody>
      </p:sp>
      <p:grpSp>
        <p:nvGrpSpPr>
          <p:cNvPr id="338374114" name="Groupe 15"/>
          <p:cNvGrpSpPr/>
          <p:nvPr/>
        </p:nvGrpSpPr>
        <p:grpSpPr bwMode="auto">
          <a:xfrm>
            <a:off x="44052" y="4903838"/>
            <a:ext cx="2867016" cy="1089124"/>
            <a:chOff x="496119" y="2442786"/>
            <a:chExt cx="2622724" cy="81684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5" name="Shape 3"/>
            <p:cNvSpPr/>
            <p:nvPr/>
          </p:nvSpPr>
          <p:spPr bwMode="auto">
            <a:xfrm>
              <a:off x="496119" y="2442786"/>
              <a:ext cx="2622724" cy="816843"/>
            </a:xfrm>
            <a:prstGeom prst="roundRect">
              <a:avLst>
                <a:gd name="adj" fmla="val 15134"/>
              </a:avLst>
            </a:prstGeom>
            <a:grpFill/>
            <a:ln/>
          </p:spPr>
          <p:txBody>
            <a:bodyPr/>
            <a:lstStyle/>
            <a:p>
              <a:pPr defTabSz="1219170">
                <a:defRPr/>
              </a:pPr>
              <a:endParaRPr sz="2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Text 4"/>
            <p:cNvSpPr/>
            <p:nvPr/>
          </p:nvSpPr>
          <p:spPr bwMode="auto">
            <a:xfrm>
              <a:off x="637877" y="2588270"/>
              <a:ext cx="2131368" cy="22145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04000"/>
                </a:lnSpc>
                <a:defRPr/>
              </a:pPr>
              <a:r>
                <a:rPr lang="en-US" sz="1600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</a:rPr>
                <a:t>AGONHOUN Bonaventure</a:t>
              </a:r>
              <a:endParaRPr lang="en-US" sz="16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Text 5"/>
            <p:cNvSpPr/>
            <p:nvPr/>
          </p:nvSpPr>
          <p:spPr bwMode="auto">
            <a:xfrm>
              <a:off x="637877" y="2894781"/>
              <a:ext cx="2339206" cy="226814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33000"/>
                </a:lnSpc>
                <a:defRPr/>
              </a:pPr>
              <a:r>
                <a:rPr lang="en-US" sz="1450">
                  <a:solidFill>
                    <a:srgbClr val="15213F"/>
                  </a:solidFill>
                  <a:latin typeface="Roboto"/>
                  <a:ea typeface="Roboto"/>
                  <a:cs typeface="Roboto"/>
                </a:rPr>
                <a:t>Chef d'équipe</a:t>
              </a:r>
              <a:endParaRPr lang="en-US" sz="145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95422272" name="Groupe 21"/>
          <p:cNvGrpSpPr/>
          <p:nvPr/>
        </p:nvGrpSpPr>
        <p:grpSpPr bwMode="auto">
          <a:xfrm>
            <a:off x="8781593" y="4903838"/>
            <a:ext cx="3178289" cy="1179957"/>
            <a:chOff x="3221534" y="2423908"/>
            <a:chExt cx="2622724" cy="81684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8" name="Shape 6"/>
            <p:cNvSpPr/>
            <p:nvPr/>
          </p:nvSpPr>
          <p:spPr bwMode="auto">
            <a:xfrm>
              <a:off x="3221534" y="2423908"/>
              <a:ext cx="2622724" cy="816843"/>
            </a:xfrm>
            <a:prstGeom prst="roundRect">
              <a:avLst>
                <a:gd name="adj" fmla="val 19311"/>
              </a:avLst>
            </a:prstGeom>
            <a:grpFill/>
            <a:ln/>
          </p:spPr>
        </p:sp>
        <p:sp>
          <p:nvSpPr>
            <p:cNvPr id="9" name="Text 7"/>
            <p:cNvSpPr/>
            <p:nvPr/>
          </p:nvSpPr>
          <p:spPr bwMode="auto">
            <a:xfrm>
              <a:off x="3402360" y="2588270"/>
              <a:ext cx="2004268" cy="22145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04000"/>
                </a:lnSpc>
                <a:defRPr/>
              </a:pPr>
              <a:r>
                <a:rPr lang="en-US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</a:rPr>
                <a:t>HOUETO Jean-Vladimir</a:t>
              </a: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Text 8"/>
            <p:cNvSpPr/>
            <p:nvPr/>
          </p:nvSpPr>
          <p:spPr bwMode="auto">
            <a:xfrm>
              <a:off x="3402360" y="2894781"/>
              <a:ext cx="2339206" cy="226814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33000"/>
                </a:lnSpc>
                <a:defRPr/>
              </a:pPr>
              <a:r>
                <a:rPr lang="en-US" sz="1450">
                  <a:solidFill>
                    <a:srgbClr val="15213F"/>
                  </a:solidFill>
                  <a:latin typeface="Roboto"/>
                  <a:ea typeface="Roboto"/>
                  <a:cs typeface="Roboto"/>
                </a:rPr>
                <a:t>Data Scientist</a:t>
              </a:r>
              <a:endParaRPr lang="en-US" sz="145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359601352" name="Groupe 22"/>
          <p:cNvGrpSpPr/>
          <p:nvPr/>
        </p:nvGrpSpPr>
        <p:grpSpPr bwMode="auto">
          <a:xfrm>
            <a:off x="3121185" y="4890509"/>
            <a:ext cx="2355540" cy="1089124"/>
            <a:chOff x="6025083" y="2461366"/>
            <a:chExt cx="2622724" cy="81684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" name="Shape 9"/>
            <p:cNvSpPr/>
            <p:nvPr/>
          </p:nvSpPr>
          <p:spPr bwMode="auto">
            <a:xfrm>
              <a:off x="6025083" y="2461366"/>
              <a:ext cx="2622724" cy="816843"/>
            </a:xfrm>
            <a:prstGeom prst="roundRect">
              <a:avLst>
                <a:gd name="adj" fmla="val 15969"/>
              </a:avLst>
            </a:prstGeom>
            <a:grpFill/>
            <a:ln/>
          </p:spPr>
          <p:txBody>
            <a:bodyPr/>
            <a:lstStyle/>
            <a:p>
              <a:pPr defTabSz="1219170">
                <a:defRPr/>
              </a:pPr>
              <a:endParaRPr sz="24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Text 10"/>
            <p:cNvSpPr/>
            <p:nvPr/>
          </p:nvSpPr>
          <p:spPr bwMode="auto">
            <a:xfrm>
              <a:off x="6166842" y="2588270"/>
              <a:ext cx="1772022" cy="22145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04000"/>
                </a:lnSpc>
                <a:defRPr/>
              </a:pPr>
              <a:r>
                <a:rPr lang="en-US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</a:rPr>
                <a:t>KRE Paul</a:t>
              </a: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Text 11"/>
            <p:cNvSpPr/>
            <p:nvPr/>
          </p:nvSpPr>
          <p:spPr bwMode="auto">
            <a:xfrm>
              <a:off x="6166842" y="2894781"/>
              <a:ext cx="2339206" cy="226814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33000"/>
                </a:lnSpc>
                <a:defRPr/>
              </a:pPr>
              <a:r>
                <a:rPr lang="en-US" sz="1450">
                  <a:solidFill>
                    <a:srgbClr val="15213F"/>
                  </a:solidFill>
                  <a:latin typeface="Roboto"/>
                  <a:ea typeface="Roboto"/>
                  <a:cs typeface="Roboto"/>
                </a:rPr>
                <a:t>Data Scientist</a:t>
              </a:r>
              <a:endParaRPr lang="en-US" sz="145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705382911" name="Groupe 23"/>
          <p:cNvGrpSpPr/>
          <p:nvPr/>
        </p:nvGrpSpPr>
        <p:grpSpPr bwMode="auto">
          <a:xfrm>
            <a:off x="5752945" y="4922457"/>
            <a:ext cx="2752428" cy="1107803"/>
            <a:chOff x="4501083" y="3444961"/>
            <a:chExt cx="4004965" cy="81684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7" name="Shape 15"/>
            <p:cNvSpPr/>
            <p:nvPr/>
          </p:nvSpPr>
          <p:spPr bwMode="auto">
            <a:xfrm>
              <a:off x="4501083" y="3444961"/>
              <a:ext cx="4004965" cy="816843"/>
            </a:xfrm>
            <a:prstGeom prst="roundRect">
              <a:avLst>
                <a:gd name="adj" fmla="val 17640"/>
              </a:avLst>
            </a:prstGeom>
            <a:grpFill/>
            <a:ln/>
          </p:spPr>
        </p:sp>
        <p:sp>
          <p:nvSpPr>
            <p:cNvPr id="18" name="Text 16"/>
            <p:cNvSpPr/>
            <p:nvPr/>
          </p:nvSpPr>
          <p:spPr bwMode="auto">
            <a:xfrm>
              <a:off x="4784601" y="3546872"/>
              <a:ext cx="1772022" cy="22145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04000"/>
                </a:lnSpc>
                <a:defRPr/>
              </a:pPr>
              <a:r>
                <a:rPr lang="en-US">
                  <a:solidFill>
                    <a:srgbClr val="15213F"/>
                  </a:solidFill>
                  <a:latin typeface="Roboto Slab"/>
                  <a:ea typeface="Roboto Slab"/>
                  <a:cs typeface="Roboto Slab"/>
                </a:rPr>
                <a:t>ANTONIO Alvaro</a:t>
              </a:r>
              <a:endParaRPr lang="en-US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Text 17"/>
            <p:cNvSpPr/>
            <p:nvPr/>
          </p:nvSpPr>
          <p:spPr bwMode="auto">
            <a:xfrm>
              <a:off x="4784601" y="3853383"/>
              <a:ext cx="3721447" cy="226814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defTabSz="1219170">
                <a:lnSpc>
                  <a:spcPct val="133000"/>
                </a:lnSpc>
                <a:defRPr/>
              </a:pPr>
              <a:r>
                <a:rPr lang="en-US" sz="1450">
                  <a:solidFill>
                    <a:srgbClr val="15213F"/>
                  </a:solidFill>
                  <a:latin typeface="Roboto"/>
                  <a:ea typeface="Roboto"/>
                  <a:cs typeface="Roboto"/>
                </a:rPr>
                <a:t>ML Engineer</a:t>
              </a:r>
              <a:endParaRPr lang="en-US" sz="14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0347692" name="Text 18"/>
          <p:cNvSpPr/>
          <p:nvPr/>
        </p:nvSpPr>
        <p:spPr bwMode="auto">
          <a:xfrm>
            <a:off x="44052" y="5841900"/>
            <a:ext cx="1086901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defTabSz="1219170">
              <a:lnSpc>
                <a:spcPct val="133000"/>
              </a:lnSpc>
              <a:defRPr/>
            </a:pPr>
            <a:r>
              <a:rPr lang="en-US" sz="1150">
                <a:solidFill>
                  <a:srgbClr val="888888"/>
                </a:solidFill>
                <a:latin typeface="Roboto"/>
                <a:ea typeface="Roboto"/>
                <a:cs typeface="Roboto"/>
              </a:rPr>
              <a:t>Slide 10 / 10</a:t>
            </a:r>
            <a:endParaRPr lang="en-US" sz="115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23944583" name="Image 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826769" y="2001373"/>
            <a:ext cx="2204556" cy="2204556"/>
          </a:xfrm>
          <a:prstGeom prst="rect">
            <a:avLst/>
          </a:prstGeom>
        </p:spPr>
      </p:pic>
      <p:sp>
        <p:nvSpPr>
          <p:cNvPr id="1598923266" name="ZoneTexte 29"/>
          <p:cNvSpPr txBox="1"/>
          <p:nvPr/>
        </p:nvSpPr>
        <p:spPr bwMode="auto">
          <a:xfrm>
            <a:off x="1893835" y="3073918"/>
            <a:ext cx="2709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defRPr/>
            </a:pPr>
            <a:r>
              <a:rPr lang="fr-FR" sz="3200" b="1" spc="400">
                <a:solidFill>
                  <a:prstClr val="white"/>
                </a:solidFill>
                <a:latin typeface="Bodoni MT Black"/>
              </a:rPr>
              <a:t>SCAN ME</a:t>
            </a:r>
            <a:endParaRPr sz="3200" b="1" spc="400">
              <a:solidFill>
                <a:prstClr val="white"/>
              </a:solidFill>
              <a:latin typeface="Bodoni MT Black"/>
            </a:endParaRPr>
          </a:p>
        </p:txBody>
      </p:sp>
      <p:sp>
        <p:nvSpPr>
          <p:cNvPr id="1231958896" name="Flèche : droite 30"/>
          <p:cNvSpPr/>
          <p:nvPr/>
        </p:nvSpPr>
        <p:spPr bwMode="auto">
          <a:xfrm>
            <a:off x="4840003" y="3019150"/>
            <a:ext cx="2952341" cy="6978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sz="2400">
              <a:solidFill>
                <a:prstClr val="white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Word"/>
      </p:transition>
    </mc:Choice>
    <mc:Fallback>
      <p:transition spd="slow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Alvaro Neldo ANTONIO</dc:creator>
  <cp:lastModifiedBy/>
  <cp:revision>6</cp:revision>
  <dcterms:created xsi:type="dcterms:W3CDTF">2026-05-29T01:45:05Z</dcterms:created>
  <dcterms:modified xsi:type="dcterms:W3CDTF">2026-05-29T08:38:38Z</dcterms:modified>
</cp:coreProperties>
</file>